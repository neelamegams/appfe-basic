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3"/>
  </p:sldMasterIdLst>
  <p:notesMasterIdLst>
    <p:notesMasterId r:id="rId15"/>
  </p:notesMasterIdLst>
  <p:sldIdLst>
    <p:sldId id="2147483251" r:id="rId4"/>
    <p:sldId id="2147483254" r:id="rId5"/>
    <p:sldId id="2147483256" r:id="rId6"/>
    <p:sldId id="2147483266" r:id="rId7"/>
    <p:sldId id="2147483268" r:id="rId8"/>
    <p:sldId id="2147483271" r:id="rId9"/>
    <p:sldId id="2147483269" r:id="rId10"/>
    <p:sldId id="2147483265" r:id="rId11"/>
    <p:sldId id="2147483270" r:id="rId12"/>
    <p:sldId id="2147483267" r:id="rId13"/>
    <p:sldId id="214748327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08"/>
    <p:restoredTop sz="84110"/>
  </p:normalViewPr>
  <p:slideViewPr>
    <p:cSldViewPr snapToGrid="0">
      <p:cViewPr varScale="1">
        <p:scale>
          <a:sx n="106" d="100"/>
          <a:sy n="106" d="100"/>
        </p:scale>
        <p:origin x="79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heme" Target="theme/theme1.xml"/><Relationship Id="rId3" Type="http://schemas.openxmlformats.org/officeDocument/2006/relationships/slideMaster" Target="slideMasters/slide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3740D7-F87B-8F4D-A158-D1F192CFB81C}" type="datetimeFigureOut">
              <a:rPr lang="en-US" smtClean="0"/>
              <a:t>11/23/25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E50127-E7D0-304B-8CA8-609799DD3FA7}" type="slidenum">
              <a:rPr lang="en-US" smtClean="0"/>
              <a:t>‹#›</a:t>
            </a:fld>
            <a:endParaRPr lang="en-US"/>
          </a:p>
        </p:txBody>
      </p:sp>
    </p:spTree>
    <p:extLst>
      <p:ext uri="{BB962C8B-B14F-4D97-AF65-F5344CB8AC3E}">
        <p14:creationId xmlns:p14="http://schemas.microsoft.com/office/powerpoint/2010/main" val="3308077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de-DE" smtClean="0"/>
              <a:pPr/>
              <a:t>2</a:t>
            </a:fld>
            <a:endParaRPr lang="de-DE"/>
          </a:p>
        </p:txBody>
      </p:sp>
      <p:sp>
        <p:nvSpPr>
          <p:cNvPr id="9" name="Slide Image Placeholder 8"/>
          <p:cNvSpPr>
            <a:spLocks noGrp="1" noRot="1" noChangeAspect="1"/>
          </p:cNvSpPr>
          <p:nvPr>
            <p:ph type="sldImg"/>
          </p:nvPr>
        </p:nvSpPr>
        <p:spPr>
          <a:xfrm>
            <a:off x="547688" y="612775"/>
            <a:ext cx="5762625" cy="3241675"/>
          </a:xfrm>
        </p:spPr>
      </p:sp>
      <p:sp>
        <p:nvSpPr>
          <p:cNvPr id="10" name="Notes Placeholder 9"/>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771772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Zero Down-Time Enablement : The HTML5 applications are decoupled from the consuming application router. This enables updating the static content of the HTML5 applications without restarting the application router.</a:t>
            </a:r>
          </a:p>
          <a:p>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The application router is the single point-of-entry for an application running in the Cloud Foundry environment on SAP BTP. The application router is used to serve static content, authenticate users, rewrite URLs, and forward or proxy requests to other micro services while propagating user information. https://</a:t>
            </a:r>
            <a:r>
              <a:rPr lang="en-IN" sz="1200" b="0" i="0" kern="1200" dirty="0" err="1">
                <a:solidFill>
                  <a:schemeClr val="tx1"/>
                </a:solidFill>
                <a:effectLst/>
                <a:latin typeface="+mn-lt"/>
                <a:ea typeface="+mn-ea"/>
                <a:cs typeface="+mn-cs"/>
              </a:rPr>
              <a:t>help.sap.com</a:t>
            </a:r>
            <a:r>
              <a:rPr lang="en-IN" sz="1200" b="0" i="0" kern="1200" dirty="0">
                <a:solidFill>
                  <a:schemeClr val="tx1"/>
                </a:solidFill>
                <a:effectLst/>
                <a:latin typeface="+mn-lt"/>
                <a:ea typeface="+mn-ea"/>
                <a:cs typeface="+mn-cs"/>
              </a:rPr>
              <a:t>/docs/</a:t>
            </a:r>
            <a:r>
              <a:rPr lang="en-IN" sz="1200" b="0" i="0" kern="1200" dirty="0" err="1">
                <a:solidFill>
                  <a:schemeClr val="tx1"/>
                </a:solidFill>
                <a:effectLst/>
                <a:latin typeface="+mn-lt"/>
                <a:ea typeface="+mn-ea"/>
                <a:cs typeface="+mn-cs"/>
              </a:rPr>
              <a:t>btp</a:t>
            </a:r>
            <a:r>
              <a:rPr lang="en-IN" sz="1200" b="0" i="0" kern="1200" dirty="0">
                <a:solidFill>
                  <a:schemeClr val="tx1"/>
                </a:solidFill>
                <a:effectLst/>
                <a:latin typeface="+mn-lt"/>
                <a:ea typeface="+mn-ea"/>
                <a:cs typeface="+mn-cs"/>
              </a:rPr>
              <a:t>/sap-business-technology-platform/integration-with-html5-application-repository</a:t>
            </a:r>
          </a:p>
          <a:p>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The managed application router enables you to access and run HTML5 applications in a cloud environment without the need to maintain your own runtime infrastructure.</a:t>
            </a:r>
          </a:p>
          <a:p>
            <a:endParaRPr lang="en-IN"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CEE50127-E7D0-304B-8CA8-609799DD3FA7}" type="slidenum">
              <a:rPr lang="en-US" smtClean="0"/>
              <a:t>5</a:t>
            </a:fld>
            <a:endParaRPr lang="en-US"/>
          </a:p>
        </p:txBody>
      </p:sp>
    </p:spTree>
    <p:extLst>
      <p:ext uri="{BB962C8B-B14F-4D97-AF65-F5344CB8AC3E}">
        <p14:creationId xmlns:p14="http://schemas.microsoft.com/office/powerpoint/2010/main" val="3584802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8.emf"/><Relationship Id="rId4" Type="http://schemas.openxmlformats.org/officeDocument/2006/relationships/image" Target="../media/image7.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47947-BD0F-DB7F-5AA9-DCB30A70789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21A8F4D-DA49-4F4F-360F-1016AA77B1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2745B7C-C805-4892-A446-A6D81D068D96}"/>
              </a:ext>
            </a:extLst>
          </p:cNvPr>
          <p:cNvSpPr>
            <a:spLocks noGrp="1"/>
          </p:cNvSpPr>
          <p:nvPr>
            <p:ph type="dt" sz="half" idx="10"/>
          </p:nvPr>
        </p:nvSpPr>
        <p:spPr/>
        <p:txBody>
          <a:bodyPr/>
          <a:lstStyle/>
          <a:p>
            <a:fld id="{E1A75249-B798-E34A-9004-2CA786F4D7EC}" type="datetimeFigureOut">
              <a:rPr lang="en-US" smtClean="0"/>
              <a:t>11/23/25</a:t>
            </a:fld>
            <a:endParaRPr lang="en-US"/>
          </a:p>
        </p:txBody>
      </p:sp>
      <p:sp>
        <p:nvSpPr>
          <p:cNvPr id="5" name="Footer Placeholder 4">
            <a:extLst>
              <a:ext uri="{FF2B5EF4-FFF2-40B4-BE49-F238E27FC236}">
                <a16:creationId xmlns:a16="http://schemas.microsoft.com/office/drawing/2014/main" id="{CCA4895B-D716-0D8C-C794-C61F780851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7A5581-4EF0-1062-5859-3E6C96F69883}"/>
              </a:ext>
            </a:extLst>
          </p:cNvPr>
          <p:cNvSpPr>
            <a:spLocks noGrp="1"/>
          </p:cNvSpPr>
          <p:nvPr>
            <p:ph type="sldNum" sz="quarter" idx="12"/>
          </p:nvPr>
        </p:nvSpPr>
        <p:spPr/>
        <p:txBody>
          <a:bodyPr/>
          <a:lstStyle/>
          <a:p>
            <a:fld id="{5B4E77DE-0602-0145-BF28-92E05AF5AA0D}" type="slidenum">
              <a:rPr lang="en-US" smtClean="0"/>
              <a:t>‹#›</a:t>
            </a:fld>
            <a:endParaRPr lang="en-US"/>
          </a:p>
        </p:txBody>
      </p:sp>
    </p:spTree>
    <p:extLst>
      <p:ext uri="{BB962C8B-B14F-4D97-AF65-F5344CB8AC3E}">
        <p14:creationId xmlns:p14="http://schemas.microsoft.com/office/powerpoint/2010/main" val="352446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68017-DA40-2074-9155-DC1DB9C098C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8C2650E-0313-6284-E363-0E3BCC904C1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D2E9D8F-47C0-A652-4F8C-B20A1331D987}"/>
              </a:ext>
            </a:extLst>
          </p:cNvPr>
          <p:cNvSpPr>
            <a:spLocks noGrp="1"/>
          </p:cNvSpPr>
          <p:nvPr>
            <p:ph type="dt" sz="half" idx="10"/>
          </p:nvPr>
        </p:nvSpPr>
        <p:spPr/>
        <p:txBody>
          <a:bodyPr/>
          <a:lstStyle/>
          <a:p>
            <a:fld id="{E1A75249-B798-E34A-9004-2CA786F4D7EC}" type="datetimeFigureOut">
              <a:rPr lang="en-US" smtClean="0"/>
              <a:t>11/23/25</a:t>
            </a:fld>
            <a:endParaRPr lang="en-US"/>
          </a:p>
        </p:txBody>
      </p:sp>
      <p:sp>
        <p:nvSpPr>
          <p:cNvPr id="5" name="Footer Placeholder 4">
            <a:extLst>
              <a:ext uri="{FF2B5EF4-FFF2-40B4-BE49-F238E27FC236}">
                <a16:creationId xmlns:a16="http://schemas.microsoft.com/office/drawing/2014/main" id="{96031C2A-4C0E-86CE-5843-A799229F1F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4322EF-DE46-F4A4-1B9E-598C0102B7A5}"/>
              </a:ext>
            </a:extLst>
          </p:cNvPr>
          <p:cNvSpPr>
            <a:spLocks noGrp="1"/>
          </p:cNvSpPr>
          <p:nvPr>
            <p:ph type="sldNum" sz="quarter" idx="12"/>
          </p:nvPr>
        </p:nvSpPr>
        <p:spPr/>
        <p:txBody>
          <a:bodyPr/>
          <a:lstStyle/>
          <a:p>
            <a:fld id="{5B4E77DE-0602-0145-BF28-92E05AF5AA0D}" type="slidenum">
              <a:rPr lang="en-US" smtClean="0"/>
              <a:t>‹#›</a:t>
            </a:fld>
            <a:endParaRPr lang="en-US"/>
          </a:p>
        </p:txBody>
      </p:sp>
    </p:spTree>
    <p:extLst>
      <p:ext uri="{BB962C8B-B14F-4D97-AF65-F5344CB8AC3E}">
        <p14:creationId xmlns:p14="http://schemas.microsoft.com/office/powerpoint/2010/main" val="4109969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712CD-CB9D-66CC-B4E7-1703104B065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82F0101-A411-58D0-97F2-BF4C45EE9E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9DD1296-8996-07EC-EAAC-D388E9BF5C8F}"/>
              </a:ext>
            </a:extLst>
          </p:cNvPr>
          <p:cNvSpPr>
            <a:spLocks noGrp="1"/>
          </p:cNvSpPr>
          <p:nvPr>
            <p:ph type="dt" sz="half" idx="10"/>
          </p:nvPr>
        </p:nvSpPr>
        <p:spPr/>
        <p:txBody>
          <a:bodyPr/>
          <a:lstStyle/>
          <a:p>
            <a:fld id="{E1A75249-B798-E34A-9004-2CA786F4D7EC}" type="datetimeFigureOut">
              <a:rPr lang="en-US" smtClean="0"/>
              <a:t>11/23/25</a:t>
            </a:fld>
            <a:endParaRPr lang="en-US"/>
          </a:p>
        </p:txBody>
      </p:sp>
      <p:sp>
        <p:nvSpPr>
          <p:cNvPr id="5" name="Footer Placeholder 4">
            <a:extLst>
              <a:ext uri="{FF2B5EF4-FFF2-40B4-BE49-F238E27FC236}">
                <a16:creationId xmlns:a16="http://schemas.microsoft.com/office/drawing/2014/main" id="{302E417F-5E10-CDC5-1A66-AA3501A656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9DDC80-9F21-11DD-35C9-E46AFB72197D}"/>
              </a:ext>
            </a:extLst>
          </p:cNvPr>
          <p:cNvSpPr>
            <a:spLocks noGrp="1"/>
          </p:cNvSpPr>
          <p:nvPr>
            <p:ph type="sldNum" sz="quarter" idx="12"/>
          </p:nvPr>
        </p:nvSpPr>
        <p:spPr/>
        <p:txBody>
          <a:bodyPr/>
          <a:lstStyle/>
          <a:p>
            <a:fld id="{5B4E77DE-0602-0145-BF28-92E05AF5AA0D}" type="slidenum">
              <a:rPr lang="en-US" smtClean="0"/>
              <a:t>‹#›</a:t>
            </a:fld>
            <a:endParaRPr lang="en-US"/>
          </a:p>
        </p:txBody>
      </p:sp>
    </p:spTree>
    <p:extLst>
      <p:ext uri="{BB962C8B-B14F-4D97-AF65-F5344CB8AC3E}">
        <p14:creationId xmlns:p14="http://schemas.microsoft.com/office/powerpoint/2010/main" val="3598725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982E7-6DDC-D9B8-9A3E-8E1380AE7A7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FC755CD-C0D6-8CED-F66B-9EF9060BC86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5B9A308-9DE7-4F84-D285-C690DED6A72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3F30202-D6AC-9E9D-78C8-93E5F371BD2D}"/>
              </a:ext>
            </a:extLst>
          </p:cNvPr>
          <p:cNvSpPr>
            <a:spLocks noGrp="1"/>
          </p:cNvSpPr>
          <p:nvPr>
            <p:ph type="dt" sz="half" idx="10"/>
          </p:nvPr>
        </p:nvSpPr>
        <p:spPr/>
        <p:txBody>
          <a:bodyPr/>
          <a:lstStyle/>
          <a:p>
            <a:fld id="{E1A75249-B798-E34A-9004-2CA786F4D7EC}" type="datetimeFigureOut">
              <a:rPr lang="en-US" smtClean="0"/>
              <a:t>11/23/25</a:t>
            </a:fld>
            <a:endParaRPr lang="en-US"/>
          </a:p>
        </p:txBody>
      </p:sp>
      <p:sp>
        <p:nvSpPr>
          <p:cNvPr id="6" name="Footer Placeholder 5">
            <a:extLst>
              <a:ext uri="{FF2B5EF4-FFF2-40B4-BE49-F238E27FC236}">
                <a16:creationId xmlns:a16="http://schemas.microsoft.com/office/drawing/2014/main" id="{5DF9AC96-9C6F-0C85-7AB8-FB7260C5D4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3C766A-9C0C-F736-EC3C-F2142B9A34CE}"/>
              </a:ext>
            </a:extLst>
          </p:cNvPr>
          <p:cNvSpPr>
            <a:spLocks noGrp="1"/>
          </p:cNvSpPr>
          <p:nvPr>
            <p:ph type="sldNum" sz="quarter" idx="12"/>
          </p:nvPr>
        </p:nvSpPr>
        <p:spPr/>
        <p:txBody>
          <a:bodyPr/>
          <a:lstStyle/>
          <a:p>
            <a:fld id="{5B4E77DE-0602-0145-BF28-92E05AF5AA0D}" type="slidenum">
              <a:rPr lang="en-US" smtClean="0"/>
              <a:t>‹#›</a:t>
            </a:fld>
            <a:endParaRPr lang="en-US"/>
          </a:p>
        </p:txBody>
      </p:sp>
    </p:spTree>
    <p:extLst>
      <p:ext uri="{BB962C8B-B14F-4D97-AF65-F5344CB8AC3E}">
        <p14:creationId xmlns:p14="http://schemas.microsoft.com/office/powerpoint/2010/main" val="4082966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5C2D3-3433-521B-F835-F11FB409427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FC21F2E-CF36-5467-9519-F03B660649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3969539-10C7-3F41-96E2-7266564D7C3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0696734-C0DE-A935-FC30-82B26C689E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955936A-1334-6176-344C-C238F26582B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79B7893-BF3C-D9B5-AA4B-2D36A243E9B0}"/>
              </a:ext>
            </a:extLst>
          </p:cNvPr>
          <p:cNvSpPr>
            <a:spLocks noGrp="1"/>
          </p:cNvSpPr>
          <p:nvPr>
            <p:ph type="dt" sz="half" idx="10"/>
          </p:nvPr>
        </p:nvSpPr>
        <p:spPr/>
        <p:txBody>
          <a:bodyPr/>
          <a:lstStyle/>
          <a:p>
            <a:fld id="{E1A75249-B798-E34A-9004-2CA786F4D7EC}" type="datetimeFigureOut">
              <a:rPr lang="en-US" smtClean="0"/>
              <a:t>11/23/25</a:t>
            </a:fld>
            <a:endParaRPr lang="en-US"/>
          </a:p>
        </p:txBody>
      </p:sp>
      <p:sp>
        <p:nvSpPr>
          <p:cNvPr id="8" name="Footer Placeholder 7">
            <a:extLst>
              <a:ext uri="{FF2B5EF4-FFF2-40B4-BE49-F238E27FC236}">
                <a16:creationId xmlns:a16="http://schemas.microsoft.com/office/drawing/2014/main" id="{6BA54CFA-4FA9-D182-2816-33A3F9C98E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910CCFE-231A-CC89-1D42-008E2198360C}"/>
              </a:ext>
            </a:extLst>
          </p:cNvPr>
          <p:cNvSpPr>
            <a:spLocks noGrp="1"/>
          </p:cNvSpPr>
          <p:nvPr>
            <p:ph type="sldNum" sz="quarter" idx="12"/>
          </p:nvPr>
        </p:nvSpPr>
        <p:spPr/>
        <p:txBody>
          <a:bodyPr/>
          <a:lstStyle/>
          <a:p>
            <a:fld id="{5B4E77DE-0602-0145-BF28-92E05AF5AA0D}" type="slidenum">
              <a:rPr lang="en-US" smtClean="0"/>
              <a:t>‹#›</a:t>
            </a:fld>
            <a:endParaRPr lang="en-US"/>
          </a:p>
        </p:txBody>
      </p:sp>
    </p:spTree>
    <p:extLst>
      <p:ext uri="{BB962C8B-B14F-4D97-AF65-F5344CB8AC3E}">
        <p14:creationId xmlns:p14="http://schemas.microsoft.com/office/powerpoint/2010/main" val="3979493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4DFB8-3C02-8E9C-8327-7E4217DF2A0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C0CD208-544F-A1AE-C03D-87389887C091}"/>
              </a:ext>
            </a:extLst>
          </p:cNvPr>
          <p:cNvSpPr>
            <a:spLocks noGrp="1"/>
          </p:cNvSpPr>
          <p:nvPr>
            <p:ph type="dt" sz="half" idx="10"/>
          </p:nvPr>
        </p:nvSpPr>
        <p:spPr/>
        <p:txBody>
          <a:bodyPr/>
          <a:lstStyle/>
          <a:p>
            <a:fld id="{E1A75249-B798-E34A-9004-2CA786F4D7EC}" type="datetimeFigureOut">
              <a:rPr lang="en-US" smtClean="0"/>
              <a:t>11/23/25</a:t>
            </a:fld>
            <a:endParaRPr lang="en-US"/>
          </a:p>
        </p:txBody>
      </p:sp>
      <p:sp>
        <p:nvSpPr>
          <p:cNvPr id="4" name="Footer Placeholder 3">
            <a:extLst>
              <a:ext uri="{FF2B5EF4-FFF2-40B4-BE49-F238E27FC236}">
                <a16:creationId xmlns:a16="http://schemas.microsoft.com/office/drawing/2014/main" id="{8D096FD9-1ECC-7DA6-2FC0-101C71F38D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5EF252-35C9-4282-E4F7-71780CD1EBD4}"/>
              </a:ext>
            </a:extLst>
          </p:cNvPr>
          <p:cNvSpPr>
            <a:spLocks noGrp="1"/>
          </p:cNvSpPr>
          <p:nvPr>
            <p:ph type="sldNum" sz="quarter" idx="12"/>
          </p:nvPr>
        </p:nvSpPr>
        <p:spPr/>
        <p:txBody>
          <a:bodyPr/>
          <a:lstStyle/>
          <a:p>
            <a:fld id="{5B4E77DE-0602-0145-BF28-92E05AF5AA0D}" type="slidenum">
              <a:rPr lang="en-US" smtClean="0"/>
              <a:t>‹#›</a:t>
            </a:fld>
            <a:endParaRPr lang="en-US"/>
          </a:p>
        </p:txBody>
      </p:sp>
    </p:spTree>
    <p:extLst>
      <p:ext uri="{BB962C8B-B14F-4D97-AF65-F5344CB8AC3E}">
        <p14:creationId xmlns:p14="http://schemas.microsoft.com/office/powerpoint/2010/main" val="3575758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75604B-2CCE-99FA-111C-792DCFDE0E70}"/>
              </a:ext>
            </a:extLst>
          </p:cNvPr>
          <p:cNvSpPr>
            <a:spLocks noGrp="1"/>
          </p:cNvSpPr>
          <p:nvPr>
            <p:ph type="dt" sz="half" idx="10"/>
          </p:nvPr>
        </p:nvSpPr>
        <p:spPr/>
        <p:txBody>
          <a:bodyPr/>
          <a:lstStyle/>
          <a:p>
            <a:fld id="{E1A75249-B798-E34A-9004-2CA786F4D7EC}" type="datetimeFigureOut">
              <a:rPr lang="en-US" smtClean="0"/>
              <a:t>11/23/25</a:t>
            </a:fld>
            <a:endParaRPr lang="en-US"/>
          </a:p>
        </p:txBody>
      </p:sp>
      <p:sp>
        <p:nvSpPr>
          <p:cNvPr id="3" name="Footer Placeholder 2">
            <a:extLst>
              <a:ext uri="{FF2B5EF4-FFF2-40B4-BE49-F238E27FC236}">
                <a16:creationId xmlns:a16="http://schemas.microsoft.com/office/drawing/2014/main" id="{58B5B688-1839-F9AB-7433-FC80BB4EF9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D47DB2-FA4D-D53B-3600-E35085E3C04D}"/>
              </a:ext>
            </a:extLst>
          </p:cNvPr>
          <p:cNvSpPr>
            <a:spLocks noGrp="1"/>
          </p:cNvSpPr>
          <p:nvPr>
            <p:ph type="sldNum" sz="quarter" idx="12"/>
          </p:nvPr>
        </p:nvSpPr>
        <p:spPr/>
        <p:txBody>
          <a:bodyPr/>
          <a:lstStyle/>
          <a:p>
            <a:fld id="{5B4E77DE-0602-0145-BF28-92E05AF5AA0D}" type="slidenum">
              <a:rPr lang="en-US" smtClean="0"/>
              <a:t>‹#›</a:t>
            </a:fld>
            <a:endParaRPr lang="en-US"/>
          </a:p>
        </p:txBody>
      </p:sp>
    </p:spTree>
    <p:extLst>
      <p:ext uri="{BB962C8B-B14F-4D97-AF65-F5344CB8AC3E}">
        <p14:creationId xmlns:p14="http://schemas.microsoft.com/office/powerpoint/2010/main" val="1073238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88CAD-981C-A31B-D2ED-3635710BE80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D4D65E5-7245-292B-7FBB-BFADE30A25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F6325CF-E165-C3D7-FB7D-E3A75B5F94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165A9E2-F676-D92E-D0F0-3A45A3B3D824}"/>
              </a:ext>
            </a:extLst>
          </p:cNvPr>
          <p:cNvSpPr>
            <a:spLocks noGrp="1"/>
          </p:cNvSpPr>
          <p:nvPr>
            <p:ph type="dt" sz="half" idx="10"/>
          </p:nvPr>
        </p:nvSpPr>
        <p:spPr/>
        <p:txBody>
          <a:bodyPr/>
          <a:lstStyle/>
          <a:p>
            <a:fld id="{E1A75249-B798-E34A-9004-2CA786F4D7EC}" type="datetimeFigureOut">
              <a:rPr lang="en-US" smtClean="0"/>
              <a:t>11/23/25</a:t>
            </a:fld>
            <a:endParaRPr lang="en-US"/>
          </a:p>
        </p:txBody>
      </p:sp>
      <p:sp>
        <p:nvSpPr>
          <p:cNvPr id="6" name="Footer Placeholder 5">
            <a:extLst>
              <a:ext uri="{FF2B5EF4-FFF2-40B4-BE49-F238E27FC236}">
                <a16:creationId xmlns:a16="http://schemas.microsoft.com/office/drawing/2014/main" id="{2A89E252-CB40-710C-0D11-7BEB1B1A60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C2301E-74FC-97B7-0ACF-0AEC3D6825CF}"/>
              </a:ext>
            </a:extLst>
          </p:cNvPr>
          <p:cNvSpPr>
            <a:spLocks noGrp="1"/>
          </p:cNvSpPr>
          <p:nvPr>
            <p:ph type="sldNum" sz="quarter" idx="12"/>
          </p:nvPr>
        </p:nvSpPr>
        <p:spPr/>
        <p:txBody>
          <a:bodyPr/>
          <a:lstStyle/>
          <a:p>
            <a:fld id="{5B4E77DE-0602-0145-BF28-92E05AF5AA0D}" type="slidenum">
              <a:rPr lang="en-US" smtClean="0"/>
              <a:t>‹#›</a:t>
            </a:fld>
            <a:endParaRPr lang="en-US"/>
          </a:p>
        </p:txBody>
      </p:sp>
    </p:spTree>
    <p:extLst>
      <p:ext uri="{BB962C8B-B14F-4D97-AF65-F5344CB8AC3E}">
        <p14:creationId xmlns:p14="http://schemas.microsoft.com/office/powerpoint/2010/main" val="979567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4699B-A38F-65CF-B45B-5618EFBC87A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A8BB41E-6B15-09AE-ECAC-D380DB032D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9CE5DCB-2ACA-5B74-0060-EA43DEA24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BA2AAB5-35D9-80B9-BD0F-4FC07A049138}"/>
              </a:ext>
            </a:extLst>
          </p:cNvPr>
          <p:cNvSpPr>
            <a:spLocks noGrp="1"/>
          </p:cNvSpPr>
          <p:nvPr>
            <p:ph type="dt" sz="half" idx="10"/>
          </p:nvPr>
        </p:nvSpPr>
        <p:spPr/>
        <p:txBody>
          <a:bodyPr/>
          <a:lstStyle/>
          <a:p>
            <a:fld id="{E1A75249-B798-E34A-9004-2CA786F4D7EC}" type="datetimeFigureOut">
              <a:rPr lang="en-US" smtClean="0"/>
              <a:t>11/23/25</a:t>
            </a:fld>
            <a:endParaRPr lang="en-US"/>
          </a:p>
        </p:txBody>
      </p:sp>
      <p:sp>
        <p:nvSpPr>
          <p:cNvPr id="6" name="Footer Placeholder 5">
            <a:extLst>
              <a:ext uri="{FF2B5EF4-FFF2-40B4-BE49-F238E27FC236}">
                <a16:creationId xmlns:a16="http://schemas.microsoft.com/office/drawing/2014/main" id="{BEAEAE23-9243-237A-DBDC-960A3911E1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6362DC-8729-7878-E3E6-ADAE7ED39550}"/>
              </a:ext>
            </a:extLst>
          </p:cNvPr>
          <p:cNvSpPr>
            <a:spLocks noGrp="1"/>
          </p:cNvSpPr>
          <p:nvPr>
            <p:ph type="sldNum" sz="quarter" idx="12"/>
          </p:nvPr>
        </p:nvSpPr>
        <p:spPr/>
        <p:txBody>
          <a:bodyPr/>
          <a:lstStyle/>
          <a:p>
            <a:fld id="{5B4E77DE-0602-0145-BF28-92E05AF5AA0D}" type="slidenum">
              <a:rPr lang="en-US" smtClean="0"/>
              <a:t>‹#›</a:t>
            </a:fld>
            <a:endParaRPr lang="en-US"/>
          </a:p>
        </p:txBody>
      </p:sp>
    </p:spTree>
    <p:extLst>
      <p:ext uri="{BB962C8B-B14F-4D97-AF65-F5344CB8AC3E}">
        <p14:creationId xmlns:p14="http://schemas.microsoft.com/office/powerpoint/2010/main" val="1372174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39ED-2FEE-116D-89B4-504F80D7C11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9E8EB90-8752-0A46-E763-38B77CA5E43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92AC7C-E838-3A31-9D15-F4AF3202D969}"/>
              </a:ext>
            </a:extLst>
          </p:cNvPr>
          <p:cNvSpPr>
            <a:spLocks noGrp="1"/>
          </p:cNvSpPr>
          <p:nvPr>
            <p:ph type="dt" sz="half" idx="10"/>
          </p:nvPr>
        </p:nvSpPr>
        <p:spPr/>
        <p:txBody>
          <a:bodyPr/>
          <a:lstStyle/>
          <a:p>
            <a:fld id="{E1A75249-B798-E34A-9004-2CA786F4D7EC}" type="datetimeFigureOut">
              <a:rPr lang="en-US" smtClean="0"/>
              <a:t>11/23/25</a:t>
            </a:fld>
            <a:endParaRPr lang="en-US"/>
          </a:p>
        </p:txBody>
      </p:sp>
      <p:sp>
        <p:nvSpPr>
          <p:cNvPr id="5" name="Footer Placeholder 4">
            <a:extLst>
              <a:ext uri="{FF2B5EF4-FFF2-40B4-BE49-F238E27FC236}">
                <a16:creationId xmlns:a16="http://schemas.microsoft.com/office/drawing/2014/main" id="{6D762E6F-4FF4-DD90-8D6C-A8B3EBF81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1FB356-E3C2-5E34-0EAE-754B8B7BC39A}"/>
              </a:ext>
            </a:extLst>
          </p:cNvPr>
          <p:cNvSpPr>
            <a:spLocks noGrp="1"/>
          </p:cNvSpPr>
          <p:nvPr>
            <p:ph type="sldNum" sz="quarter" idx="12"/>
          </p:nvPr>
        </p:nvSpPr>
        <p:spPr/>
        <p:txBody>
          <a:bodyPr/>
          <a:lstStyle/>
          <a:p>
            <a:fld id="{5B4E77DE-0602-0145-BF28-92E05AF5AA0D}" type="slidenum">
              <a:rPr lang="en-US" smtClean="0"/>
              <a:t>‹#›</a:t>
            </a:fld>
            <a:endParaRPr lang="en-US"/>
          </a:p>
        </p:txBody>
      </p:sp>
    </p:spTree>
    <p:extLst>
      <p:ext uri="{BB962C8B-B14F-4D97-AF65-F5344CB8AC3E}">
        <p14:creationId xmlns:p14="http://schemas.microsoft.com/office/powerpoint/2010/main" val="1467743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3FF8FC-A381-A975-BD64-EF641CAD6D7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C343F5B-B1B9-32B1-6908-215AFD2768A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7149B02-14CD-1570-318A-E737471EAE40}"/>
              </a:ext>
            </a:extLst>
          </p:cNvPr>
          <p:cNvSpPr>
            <a:spLocks noGrp="1"/>
          </p:cNvSpPr>
          <p:nvPr>
            <p:ph type="dt" sz="half" idx="10"/>
          </p:nvPr>
        </p:nvSpPr>
        <p:spPr/>
        <p:txBody>
          <a:bodyPr/>
          <a:lstStyle/>
          <a:p>
            <a:fld id="{E1A75249-B798-E34A-9004-2CA786F4D7EC}" type="datetimeFigureOut">
              <a:rPr lang="en-US" smtClean="0"/>
              <a:t>11/23/25</a:t>
            </a:fld>
            <a:endParaRPr lang="en-US"/>
          </a:p>
        </p:txBody>
      </p:sp>
      <p:sp>
        <p:nvSpPr>
          <p:cNvPr id="5" name="Footer Placeholder 4">
            <a:extLst>
              <a:ext uri="{FF2B5EF4-FFF2-40B4-BE49-F238E27FC236}">
                <a16:creationId xmlns:a16="http://schemas.microsoft.com/office/drawing/2014/main" id="{27C80E96-CC4C-D704-B0AD-2D33DDED74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41F8A1-03D6-F73D-DF9D-0A1559C95A77}"/>
              </a:ext>
            </a:extLst>
          </p:cNvPr>
          <p:cNvSpPr>
            <a:spLocks noGrp="1"/>
          </p:cNvSpPr>
          <p:nvPr>
            <p:ph type="sldNum" sz="quarter" idx="12"/>
          </p:nvPr>
        </p:nvSpPr>
        <p:spPr/>
        <p:txBody>
          <a:bodyPr/>
          <a:lstStyle/>
          <a:p>
            <a:fld id="{5B4E77DE-0602-0145-BF28-92E05AF5AA0D}" type="slidenum">
              <a:rPr lang="en-US" smtClean="0"/>
              <a:t>‹#›</a:t>
            </a:fld>
            <a:endParaRPr lang="en-US"/>
          </a:p>
        </p:txBody>
      </p:sp>
    </p:spTree>
    <p:extLst>
      <p:ext uri="{BB962C8B-B14F-4D97-AF65-F5344CB8AC3E}">
        <p14:creationId xmlns:p14="http://schemas.microsoft.com/office/powerpoint/2010/main" val="17204843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Divider Page Light Blue">
    <p:bg>
      <p:bgPr>
        <a:solidFill>
          <a:srgbClr val="EBF8FF"/>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42C6F068-5172-C86A-6949-6011A4B7541D}"/>
              </a:ext>
            </a:extLst>
          </p:cNvPr>
          <p:cNvPicPr>
            <a:picLocks noChangeAspect="1"/>
          </p:cNvPicPr>
          <p:nvPr userDrawn="1"/>
        </p:nvPicPr>
        <p:blipFill>
          <a:blip r:embed="rId2"/>
          <a:stretch>
            <a:fillRect/>
          </a:stretch>
        </p:blipFill>
        <p:spPr>
          <a:xfrm>
            <a:off x="6441243" y="1554310"/>
            <a:ext cx="4321731" cy="3416632"/>
          </a:xfrm>
          <a:prstGeom prst="rect">
            <a:avLst/>
          </a:prstGeom>
        </p:spPr>
      </p:pic>
      <p:sp>
        <p:nvSpPr>
          <p:cNvPr id="2" name="Divider text">
            <a:extLst>
              <a:ext uri="{FF2B5EF4-FFF2-40B4-BE49-F238E27FC236}">
                <a16:creationId xmlns:a16="http://schemas.microsoft.com/office/drawing/2014/main" id="{B8E19BB8-A9B6-70B1-A41B-ECC3C44A45EE}"/>
              </a:ext>
            </a:extLst>
          </p:cNvPr>
          <p:cNvSpPr>
            <a:spLocks noGrp="1"/>
          </p:cNvSpPr>
          <p:nvPr>
            <p:ph type="ctrTitle" hasCustomPrompt="1"/>
          </p:nvPr>
        </p:nvSpPr>
        <p:spPr bwMode="black">
          <a:xfrm>
            <a:off x="498346" y="1579893"/>
            <a:ext cx="4694095" cy="2538986"/>
          </a:xfrm>
        </p:spPr>
        <p:txBody>
          <a:bodyPr anchor="ctr" anchorCtr="0">
            <a:noAutofit/>
          </a:bodyPr>
          <a:lstStyle>
            <a:lvl1pPr>
              <a:defRPr sz="3599" b="0" i="0">
                <a:solidFill>
                  <a:srgbClr val="00144A"/>
                </a:solidFill>
                <a:latin typeface="72 Brand Medium" panose="020B0504030603020204" pitchFamily="34" charset="0"/>
              </a:defRPr>
            </a:lvl1pPr>
          </a:lstStyle>
          <a:p>
            <a:r>
              <a:rPr lang="en-US" dirty="0"/>
              <a:t>Divider page</a:t>
            </a:r>
            <a:endParaRPr lang="de-DE" dirty="0"/>
          </a:p>
        </p:txBody>
      </p:sp>
    </p:spTree>
    <p:extLst>
      <p:ext uri="{BB962C8B-B14F-4D97-AF65-F5344CB8AC3E}">
        <p14:creationId xmlns:p14="http://schemas.microsoft.com/office/powerpoint/2010/main" val="846743079"/>
      </p:ext>
    </p:extLst>
  </p:cSld>
  <p:clrMapOvr>
    <a:masterClrMapping/>
  </p:clrMapOvr>
  <p:hf sldNum="0" hdr="0" ftr="0" dt="0"/>
  <p:extLst>
    <p:ext uri="{DCECCB84-F9BA-43D5-87BE-67443E8EF086}">
      <p15:sldGuideLst xmlns:p15="http://schemas.microsoft.com/office/powerpoint/2012/main">
        <p15:guide id="1" pos="314">
          <p15:clr>
            <a:srgbClr val="FBAE40"/>
          </p15:clr>
        </p15:guide>
        <p15:guide id="2" orient="horz" pos="2160">
          <p15:clr>
            <a:srgbClr val="FBAE40"/>
          </p15:clr>
        </p15:guide>
        <p15:guide id="3" pos="736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3869" y="505381"/>
            <a:ext cx="5209643" cy="409019"/>
          </a:xfrm>
        </p:spPr>
        <p:txBody>
          <a:bodyPr/>
          <a:lstStyle>
            <a:lvl1pPr>
              <a:defRPr b="0" i="0">
                <a:latin typeface="72 Brand Medium" panose="020B0504030603020204" pitchFamily="34" charset="0"/>
              </a:defRPr>
            </a:lvl1pPr>
          </a:lstStyle>
          <a:p>
            <a:r>
              <a:rPr lang="en-US"/>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3869" y="1548000"/>
            <a:ext cx="6211066" cy="4787900"/>
          </a:xfrm>
        </p:spPr>
        <p:txBody>
          <a:bodyPr/>
          <a:lstStyle>
            <a:lvl1pPr>
              <a:defRPr/>
            </a:lvl1pPr>
          </a:lstStyle>
          <a:p>
            <a:pPr lvl="0"/>
            <a:r>
              <a:rPr lang="en-US"/>
              <a:t>Agenda Item/Divider Headline</a:t>
            </a:r>
          </a:p>
          <a:p>
            <a:pPr lvl="1"/>
            <a:r>
              <a:rPr lang="en-US"/>
              <a:t>Details</a:t>
            </a:r>
          </a:p>
        </p:txBody>
      </p:sp>
      <p:sp>
        <p:nvSpPr>
          <p:cNvPr id="11" name="Picture Placeholder 1/3 right">
            <a:extLst>
              <a:ext uri="{FF2B5EF4-FFF2-40B4-BE49-F238E27FC236}">
                <a16:creationId xmlns:a16="http://schemas.microsoft.com/office/drawing/2014/main" id="{DBDDA8C9-7B43-6F20-0BFB-64A2FA0DFDAC}"/>
              </a:ext>
            </a:extLst>
          </p:cNvPr>
          <p:cNvSpPr>
            <a:spLocks noGrp="1"/>
          </p:cNvSpPr>
          <p:nvPr>
            <p:ph type="pic" sz="quarter" idx="10" hasCustomPrompt="1"/>
          </p:nvPr>
        </p:nvSpPr>
        <p:spPr bwMode="gray">
          <a:xfrm>
            <a:off x="7362269" y="0"/>
            <a:ext cx="4829731" cy="6858000"/>
          </a:xfrm>
          <a:noFill/>
        </p:spPr>
        <p:txBody>
          <a:bodyPr vert="horz" lIns="0" tIns="2448000" rIns="0" bIns="0" rtlCol="0" anchor="t" anchorCtr="0">
            <a:noAutofit/>
          </a:bodyPr>
          <a:lstStyle>
            <a:lvl1pPr marL="0" indent="0" algn="ctr" defTabSz="1088231" rtl="0" eaLnBrk="1" latinLnBrk="0" hangingPunct="1">
              <a:spcBef>
                <a:spcPts val="1928"/>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Tree>
    <p:extLst>
      <p:ext uri="{BB962C8B-B14F-4D97-AF65-F5344CB8AC3E}">
        <p14:creationId xmlns:p14="http://schemas.microsoft.com/office/powerpoint/2010/main" val="36510605"/>
      </p:ext>
    </p:extLst>
  </p:cSld>
  <p:clrMapOvr>
    <a:masterClrMapping/>
  </p:clrMapOvr>
  <p:extLst>
    <p:ext uri="{DCECCB84-F9BA-43D5-87BE-67443E8EF086}">
      <p15:sldGuideLst xmlns:p15="http://schemas.microsoft.com/office/powerpoint/2012/main">
        <p15:guide id="1" pos="311">
          <p15:clr>
            <a:srgbClr val="FBAE40"/>
          </p15:clr>
        </p15:guide>
        <p15:guide id="2" orient="horz" pos="970">
          <p15:clr>
            <a:srgbClr val="FBAE40"/>
          </p15:clr>
        </p15:guide>
        <p15:guide id="3" pos="7364">
          <p15:clr>
            <a:srgbClr val="FBAE40"/>
          </p15:clr>
        </p15:guide>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Cover With Keyvisual Light Blue">
    <p:bg>
      <p:bgPr>
        <a:solidFill>
          <a:srgbClr val="EBF8FF"/>
        </a:solidFill>
        <a:effectLst/>
      </p:bgPr>
    </p:bg>
    <p:spTree>
      <p:nvGrpSpPr>
        <p:cNvPr id="1" name=""/>
        <p:cNvGrpSpPr/>
        <p:nvPr/>
      </p:nvGrpSpPr>
      <p:grpSpPr>
        <a:xfrm>
          <a:off x="0" y="0"/>
          <a:ext cx="0" cy="0"/>
          <a:chOff x="0" y="0"/>
          <a:chExt cx="0" cy="0"/>
        </a:xfrm>
      </p:grpSpPr>
      <p:sp>
        <p:nvSpPr>
          <p:cNvPr id="4" name="Title"/>
          <p:cNvSpPr>
            <a:spLocks noGrp="1"/>
          </p:cNvSpPr>
          <p:nvPr>
            <p:ph type="title" hasCustomPrompt="1"/>
          </p:nvPr>
        </p:nvSpPr>
        <p:spPr>
          <a:xfrm>
            <a:off x="287924" y="1858963"/>
            <a:ext cx="4270463" cy="1844550"/>
          </a:xfrm>
        </p:spPr>
        <p:txBody>
          <a:bodyPr anchor="b" anchorCtr="0">
            <a:noAutofit/>
          </a:bodyPr>
          <a:lstStyle>
            <a:lvl1pPr>
              <a:lnSpc>
                <a:spcPct val="90000"/>
              </a:lnSpc>
              <a:defRPr sz="3199" b="0" i="0">
                <a:solidFill>
                  <a:srgbClr val="002A86"/>
                </a:solidFill>
                <a:latin typeface="+mj-lt"/>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 </a:t>
            </a:r>
            <a:br>
              <a:rPr lang="en-US"/>
            </a:br>
            <a:r>
              <a:rPr lang="en-US"/>
              <a:t>and here</a:t>
            </a:r>
            <a:endParaRPr lang="de-DE" sz="3599" kern="0">
              <a:ea typeface="72 Brand" pitchFamily="34" charset="-128"/>
              <a:cs typeface="72 Brand" pitchFamily="34" charset="-128"/>
            </a:endParaRPr>
          </a:p>
        </p:txBody>
      </p:sp>
      <p:sp>
        <p:nvSpPr>
          <p:cNvPr id="2" name="Text placeholder - column 1">
            <a:extLst>
              <a:ext uri="{FF2B5EF4-FFF2-40B4-BE49-F238E27FC236}">
                <a16:creationId xmlns:a16="http://schemas.microsoft.com/office/drawing/2014/main" id="{BCDC6924-8FC6-12CF-060C-A88CC6F109C7}"/>
              </a:ext>
            </a:extLst>
          </p:cNvPr>
          <p:cNvSpPr>
            <a:spLocks noGrp="1"/>
          </p:cNvSpPr>
          <p:nvPr>
            <p:ph type="body" sz="quarter" idx="23" hasCustomPrompt="1"/>
          </p:nvPr>
        </p:nvSpPr>
        <p:spPr>
          <a:xfrm>
            <a:off x="293261" y="4027469"/>
            <a:ext cx="4270463" cy="503434"/>
          </a:xfrm>
          <a:prstGeom prst="rect">
            <a:avLst/>
          </a:prstGeom>
        </p:spPr>
        <p:txBody>
          <a:bodyPr anchor="b" anchorCtr="0">
            <a:normAutofit/>
          </a:bodyPr>
          <a:lstStyle>
            <a:lvl1pPr marL="0" marR="0" indent="0" algn="l" defTabSz="1088231"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rgbClr val="002A86"/>
                </a:solidFill>
              </a:defRPr>
            </a:lvl1pPr>
          </a:lstStyle>
          <a:p>
            <a:pPr lvl="0"/>
            <a:r>
              <a:rPr lang="en-US" dirty="0"/>
              <a:t>Speaker Name, SAP</a:t>
            </a:r>
          </a:p>
          <a:p>
            <a:pPr marL="0" marR="0" lvl="0" indent="0" algn="l" defTabSz="1088231" rtl="0" eaLnBrk="1" fontAlgn="auto" latinLnBrk="0" hangingPunct="1">
              <a:lnSpc>
                <a:spcPct val="100000"/>
              </a:lnSpc>
              <a:spcBef>
                <a:spcPts val="0"/>
              </a:spcBef>
              <a:spcAft>
                <a:spcPts val="0"/>
              </a:spcAft>
              <a:buClrTx/>
              <a:buSzPct val="80000"/>
              <a:buFont typeface="72 Brand" panose="02000000000000000000" pitchFamily="2" charset="0"/>
              <a:buNone/>
              <a:tabLst/>
              <a:defRPr/>
            </a:pPr>
            <a:r>
              <a:rPr lang="en-US" dirty="0"/>
              <a:t>Speaker Name 2, SAP</a:t>
            </a:r>
          </a:p>
        </p:txBody>
      </p:sp>
      <p:sp>
        <p:nvSpPr>
          <p:cNvPr id="5" name="Text placeholder - column 1">
            <a:extLst>
              <a:ext uri="{FF2B5EF4-FFF2-40B4-BE49-F238E27FC236}">
                <a16:creationId xmlns:a16="http://schemas.microsoft.com/office/drawing/2014/main" id="{9435ADCE-3465-AF4F-B7CC-68F2609F193D}"/>
              </a:ext>
            </a:extLst>
          </p:cNvPr>
          <p:cNvSpPr>
            <a:spLocks noGrp="1"/>
          </p:cNvSpPr>
          <p:nvPr>
            <p:ph type="body" sz="quarter" idx="25" hasCustomPrompt="1"/>
          </p:nvPr>
        </p:nvSpPr>
        <p:spPr>
          <a:xfrm>
            <a:off x="293261" y="4623707"/>
            <a:ext cx="4270463" cy="231153"/>
          </a:xfrm>
          <a:prstGeom prst="rect">
            <a:avLst/>
          </a:prstGeom>
        </p:spPr>
        <p:txBody>
          <a:bodyPr>
            <a:normAutofit/>
          </a:bodyPr>
          <a:lstStyle>
            <a:lvl1pPr marL="0" marR="0" indent="0" algn="l" defTabSz="1088231" rtl="0" eaLnBrk="1" fontAlgn="auto" latinLnBrk="0" hangingPunct="1">
              <a:lnSpc>
                <a:spcPct val="100000"/>
              </a:lnSpc>
              <a:spcBef>
                <a:spcPts val="1799"/>
              </a:spcBef>
              <a:spcAft>
                <a:spcPts val="0"/>
              </a:spcAft>
              <a:buClrTx/>
              <a:buSzPct val="80000"/>
              <a:buFont typeface="72 Brand" panose="02000000000000000000" pitchFamily="2" charset="0"/>
              <a:buChar char="​"/>
              <a:tabLst/>
              <a:defRPr sz="1400">
                <a:solidFill>
                  <a:srgbClr val="002A86"/>
                </a:solidFill>
              </a:defRPr>
            </a:lvl1pPr>
          </a:lstStyle>
          <a:p>
            <a:pPr marL="0" marR="0" lvl="0" indent="0" algn="l" defTabSz="1088231" rtl="0" eaLnBrk="1" fontAlgn="auto" latinLnBrk="0" hangingPunct="1">
              <a:lnSpc>
                <a:spcPct val="100000"/>
              </a:lnSpc>
              <a:spcBef>
                <a:spcPts val="1799"/>
              </a:spcBef>
              <a:spcAft>
                <a:spcPts val="0"/>
              </a:spcAft>
              <a:buClrTx/>
              <a:buSzPct val="80000"/>
              <a:buFont typeface="72 Brand" panose="02000000000000000000" pitchFamily="2" charset="0"/>
              <a:buChar char="​"/>
              <a:tabLst/>
              <a:defRPr/>
            </a:pPr>
            <a:r>
              <a:rPr lang="en-US"/>
              <a:t>Month Year</a:t>
            </a:r>
          </a:p>
        </p:txBody>
      </p:sp>
      <p:pic>
        <p:nvPicPr>
          <p:cNvPr id="9" name="Picture 8">
            <a:extLst>
              <a:ext uri="{FF2B5EF4-FFF2-40B4-BE49-F238E27FC236}">
                <a16:creationId xmlns:a16="http://schemas.microsoft.com/office/drawing/2014/main" id="{A790089D-29E4-97BE-51F0-CE3FD710FF58}"/>
              </a:ext>
            </a:extLst>
          </p:cNvPr>
          <p:cNvPicPr>
            <a:picLocks noChangeAspect="1"/>
          </p:cNvPicPr>
          <p:nvPr userDrawn="1"/>
        </p:nvPicPr>
        <p:blipFill>
          <a:blip r:embed="rId2"/>
          <a:stretch>
            <a:fillRect/>
          </a:stretch>
        </p:blipFill>
        <p:spPr>
          <a:xfrm>
            <a:off x="5131171" y="1304469"/>
            <a:ext cx="6361035" cy="3663368"/>
          </a:xfrm>
          <a:prstGeom prst="rect">
            <a:avLst/>
          </a:prstGeom>
        </p:spPr>
      </p:pic>
      <p:pic>
        <p:nvPicPr>
          <p:cNvPr id="3" name="Picture 2">
            <a:extLst>
              <a:ext uri="{FF2B5EF4-FFF2-40B4-BE49-F238E27FC236}">
                <a16:creationId xmlns:a16="http://schemas.microsoft.com/office/drawing/2014/main" id="{CC50B4BD-0486-A000-F88E-89BE29A25CBE}"/>
              </a:ext>
            </a:extLst>
          </p:cNvPr>
          <p:cNvPicPr>
            <a:picLocks noChangeAspect="1"/>
          </p:cNvPicPr>
          <p:nvPr userDrawn="1"/>
        </p:nvPicPr>
        <p:blipFill>
          <a:blip r:embed="rId3"/>
          <a:srcRect/>
          <a:stretch/>
        </p:blipFill>
        <p:spPr>
          <a:xfrm>
            <a:off x="282502" y="6213693"/>
            <a:ext cx="1768939" cy="360000"/>
          </a:xfrm>
          <a:prstGeom prst="rect">
            <a:avLst/>
          </a:prstGeom>
        </p:spPr>
      </p:pic>
      <p:pic>
        <p:nvPicPr>
          <p:cNvPr id="10" name="Grafik 9">
            <a:extLst>
              <a:ext uri="{FF2B5EF4-FFF2-40B4-BE49-F238E27FC236}">
                <a16:creationId xmlns:a16="http://schemas.microsoft.com/office/drawing/2014/main" id="{2602F815-5E62-D3CC-35EB-C824FB953175}"/>
              </a:ext>
            </a:extLst>
          </p:cNvPr>
          <p:cNvPicPr>
            <a:picLocks noChangeAspect="1"/>
          </p:cNvPicPr>
          <p:nvPr userDrawn="1"/>
        </p:nvPicPr>
        <p:blipFill>
          <a:blip r:embed="rId4"/>
          <a:srcRect/>
          <a:stretch/>
        </p:blipFill>
        <p:spPr>
          <a:xfrm>
            <a:off x="290383" y="284308"/>
            <a:ext cx="1516142" cy="462943"/>
          </a:xfrm>
          <a:prstGeom prst="rect">
            <a:avLst/>
          </a:prstGeom>
        </p:spPr>
      </p:pic>
    </p:spTree>
    <p:extLst>
      <p:ext uri="{BB962C8B-B14F-4D97-AF65-F5344CB8AC3E}">
        <p14:creationId xmlns:p14="http://schemas.microsoft.com/office/powerpoint/2010/main" val="3360212501"/>
      </p:ext>
    </p:extLst>
  </p:cSld>
  <p:clrMapOvr>
    <a:masterClrMapping/>
  </p:clrMapOvr>
  <p:extLst>
    <p:ext uri="{DCECCB84-F9BA-43D5-87BE-67443E8EF086}">
      <p15:sldGuideLst xmlns:p15="http://schemas.microsoft.com/office/powerpoint/2012/main">
        <p15:guide id="1" pos="181">
          <p15:clr>
            <a:srgbClr val="FBAE40"/>
          </p15:clr>
        </p15:guide>
        <p15:guide id="2" orient="horz" pos="1171">
          <p15:clr>
            <a:srgbClr val="FBAE40"/>
          </p15:clr>
        </p15:guide>
        <p15:guide id="3" orient="horz" pos="2523">
          <p15:clr>
            <a:srgbClr val="FBAE40"/>
          </p15:clr>
        </p15:guide>
        <p15:guide id="4" orient="horz" pos="2334">
          <p15:clr>
            <a:srgbClr val="FBAE40"/>
          </p15:clr>
        </p15:guide>
        <p15:guide id="5" orient="horz" pos="3022">
          <p15:clr>
            <a:srgbClr val="FBAE40"/>
          </p15:clr>
        </p15:guide>
        <p15:guide id="7" orient="horz" pos="414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el u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3869" y="1548000"/>
            <a:ext cx="11183565" cy="4787900"/>
          </a:xfrm>
        </p:spPr>
        <p:txBody>
          <a:bodyPr/>
          <a:lstStyle>
            <a:lvl1pPr>
              <a:defRPr/>
            </a:lvl1pPr>
          </a:lstStyle>
          <a:p>
            <a:pPr lvl="0"/>
            <a:r>
              <a:rPr lang="en-GB"/>
              <a:t>Start typing to add text without a bullet point. To add a bullet point, place the cursor at the start of this line and press tab.</a:t>
            </a:r>
            <a:endParaRPr lang="en-US" noProof="0"/>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3869" y="504000"/>
            <a:ext cx="11183564" cy="369332"/>
          </a:xfrm>
        </p:spPr>
        <p:txBody>
          <a:bodyPr/>
          <a:lstStyle>
            <a:lvl1pPr>
              <a:defRPr b="0"/>
            </a:lvl1pPr>
          </a:lstStyle>
          <a:p>
            <a:r>
              <a:rPr lang="en-US" noProof="0"/>
              <a:t>Insert page title (sentence case)</a:t>
            </a:r>
            <a:endParaRPr lang="en-US"/>
          </a:p>
        </p:txBody>
      </p:sp>
    </p:spTree>
    <p:extLst>
      <p:ext uri="{BB962C8B-B14F-4D97-AF65-F5344CB8AC3E}">
        <p14:creationId xmlns:p14="http://schemas.microsoft.com/office/powerpoint/2010/main" val="2982998188"/>
      </p:ext>
    </p:extLst>
  </p:cSld>
  <p:clrMapOvr>
    <a:masterClrMapping/>
  </p:clrMapOvr>
  <p:extLst>
    <p:ext uri="{DCECCB84-F9BA-43D5-87BE-67443E8EF086}">
      <p15:sldGuideLst xmlns:p15="http://schemas.microsoft.com/office/powerpoint/2012/main">
        <p15:guide id="1" pos="312">
          <p15:clr>
            <a:srgbClr val="FBAE40"/>
          </p15:clr>
        </p15:guide>
        <p15:guide id="2" orient="horz" pos="3997">
          <p15:clr>
            <a:srgbClr val="FBAE40"/>
          </p15:clr>
        </p15:guide>
        <p15:guide id="3" pos="7364">
          <p15:clr>
            <a:srgbClr val="FBAE40"/>
          </p15:clr>
        </p15:guide>
        <p15:guide id="4" orient="horz" pos="318">
          <p15:clr>
            <a:srgbClr val="FBAE40"/>
          </p15:clr>
        </p15:guide>
        <p15:guide id="5" orient="horz" pos="552">
          <p15:clr>
            <a:srgbClr val="FBAE40"/>
          </p15:clr>
        </p15:guide>
        <p15:guide id="6" orient="horz" pos="97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Thank You Light Blue">
    <p:bg>
      <p:bgPr>
        <a:solidFill>
          <a:srgbClr val="EBF8FF"/>
        </a:solidFill>
        <a:effectLst/>
      </p:bgPr>
    </p:bg>
    <p:spTree>
      <p:nvGrpSpPr>
        <p:cNvPr id="1" name=""/>
        <p:cNvGrpSpPr/>
        <p:nvPr/>
      </p:nvGrpSpPr>
      <p:grpSpPr>
        <a:xfrm>
          <a:off x="0" y="0"/>
          <a:ext cx="0" cy="0"/>
          <a:chOff x="0" y="0"/>
          <a:chExt cx="0" cy="0"/>
        </a:xfrm>
      </p:grpSpPr>
      <p:sp>
        <p:nvSpPr>
          <p:cNvPr id="9" name="Copyright - Dynamic" descr="{&quot;templafy&quot;:{&quot;id&quot;:&quot;27f15a2f-efbf-4b45-a883-cb50c003bc42&quot;}}">
            <a:extLst>
              <a:ext uri="{FF2B5EF4-FFF2-40B4-BE49-F238E27FC236}">
                <a16:creationId xmlns:a16="http://schemas.microsoft.com/office/drawing/2014/main" id="{EDAF1AF5-D568-20CC-6052-F655D86F5486}"/>
              </a:ext>
            </a:extLst>
          </p:cNvPr>
          <p:cNvSpPr txBox="1">
            <a:spLocks/>
          </p:cNvSpPr>
          <p:nvPr userDrawn="1"/>
        </p:nvSpPr>
        <p:spPr>
          <a:xfrm>
            <a:off x="503870" y="6536751"/>
            <a:ext cx="10152956"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b="0" i="0">
                <a:solidFill>
                  <a:srgbClr val="00144A"/>
                </a:solidFill>
                <a:latin typeface="+mn-lt"/>
              </a:rPr>
              <a:t>© 2025 SAP SE or an SAP affiliate company. All rights reserved. See Legal Notice on </a:t>
            </a:r>
            <a:r>
              <a:rPr lang="en-US" sz="600" b="0" i="0" err="1">
                <a:solidFill>
                  <a:srgbClr val="00144A"/>
                </a:solidFill>
                <a:latin typeface="+mn-lt"/>
              </a:rPr>
              <a:t>www.sap.com</a:t>
            </a:r>
            <a:r>
              <a:rPr lang="en-US" sz="600" b="0" i="0">
                <a:solidFill>
                  <a:srgbClr val="00144A"/>
                </a:solidFill>
                <a:latin typeface="+mn-lt"/>
              </a:rPr>
              <a:t>/legal-notice for use terms, disclaimers, disclosures, or restrictions related to this material.</a:t>
            </a:r>
          </a:p>
        </p:txBody>
      </p:sp>
      <p:sp>
        <p:nvSpPr>
          <p:cNvPr id="7" name="Textplatzhalter 6">
            <a:extLst>
              <a:ext uri="{FF2B5EF4-FFF2-40B4-BE49-F238E27FC236}">
                <a16:creationId xmlns:a16="http://schemas.microsoft.com/office/drawing/2014/main" id="{092FCA68-7DA8-8A95-904C-BC4FE658586C}"/>
              </a:ext>
            </a:extLst>
          </p:cNvPr>
          <p:cNvSpPr>
            <a:spLocks noGrp="1"/>
          </p:cNvSpPr>
          <p:nvPr>
            <p:ph type="body" sz="quarter" idx="10" hasCustomPrompt="1"/>
          </p:nvPr>
        </p:nvSpPr>
        <p:spPr>
          <a:xfrm>
            <a:off x="498346" y="3197066"/>
            <a:ext cx="3304568" cy="1265079"/>
          </a:xfrm>
        </p:spPr>
        <p:txBody>
          <a:bodyPr/>
          <a:lstStyle>
            <a:lvl1pPr marL="0" marR="0" indent="0" algn="l" defTabSz="1088231"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rgbClr val="002A86"/>
                </a:solidFill>
              </a:defRPr>
            </a:lvl1pPr>
          </a:lstStyle>
          <a:p>
            <a:pPr lvl="0"/>
            <a:r>
              <a:rPr lang="de-DE"/>
              <a:t>Name</a:t>
            </a:r>
          </a:p>
        </p:txBody>
      </p:sp>
      <p:sp>
        <p:nvSpPr>
          <p:cNvPr id="3" name="Textplatzhalter 2">
            <a:extLst>
              <a:ext uri="{FF2B5EF4-FFF2-40B4-BE49-F238E27FC236}">
                <a16:creationId xmlns:a16="http://schemas.microsoft.com/office/drawing/2014/main" id="{585640DA-8699-0ACF-0E7E-02C3C53F5CFA}"/>
              </a:ext>
            </a:extLst>
          </p:cNvPr>
          <p:cNvSpPr>
            <a:spLocks noGrp="1"/>
          </p:cNvSpPr>
          <p:nvPr>
            <p:ph type="body" sz="quarter" idx="11" hasCustomPrompt="1"/>
          </p:nvPr>
        </p:nvSpPr>
        <p:spPr>
          <a:xfrm>
            <a:off x="498345" y="2907348"/>
            <a:ext cx="1971217" cy="319532"/>
          </a:xfrm>
        </p:spPr>
        <p:txBody>
          <a:bodyPr/>
          <a:lstStyle>
            <a:lvl1pPr>
              <a:defRPr lang="de-DE" sz="1600" b="0" i="0" kern="1200" dirty="0">
                <a:solidFill>
                  <a:srgbClr val="002A86"/>
                </a:solidFill>
                <a:latin typeface="+mn-lt"/>
                <a:ea typeface="+mn-ea"/>
                <a:cs typeface="+mn-cs"/>
              </a:defRPr>
            </a:lvl1pPr>
          </a:lstStyle>
          <a:p>
            <a:pPr marL="0" marR="0" lvl="0" indent="0" algn="l" defTabSz="1088449" rtl="0" eaLnBrk="1" fontAlgn="base" latinLnBrk="0" hangingPunct="1">
              <a:lnSpc>
                <a:spcPct val="100000"/>
              </a:lnSpc>
              <a:spcBef>
                <a:spcPct val="50000"/>
              </a:spcBef>
              <a:spcAft>
                <a:spcPct val="0"/>
              </a:spcAft>
              <a:buClr>
                <a:srgbClr val="F0AB00"/>
              </a:buClr>
              <a:buSzPct val="80000"/>
              <a:buFontTx/>
              <a:buNone/>
              <a:tabLst/>
              <a:defRPr/>
            </a:pPr>
            <a:r>
              <a:rPr lang="de-DE"/>
              <a:t>Contact </a:t>
            </a:r>
            <a:r>
              <a:rPr lang="de-DE" err="1"/>
              <a:t>information</a:t>
            </a:r>
            <a:r>
              <a:rPr lang="de-DE"/>
              <a:t>:</a:t>
            </a:r>
          </a:p>
        </p:txBody>
      </p:sp>
      <p:pic>
        <p:nvPicPr>
          <p:cNvPr id="5" name="Picture 4">
            <a:extLst>
              <a:ext uri="{FF2B5EF4-FFF2-40B4-BE49-F238E27FC236}">
                <a16:creationId xmlns:a16="http://schemas.microsoft.com/office/drawing/2014/main" id="{0E325E92-A092-A296-1447-24BF65F53C0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163534" y="5990000"/>
            <a:ext cx="3505490" cy="360000"/>
          </a:xfrm>
          <a:prstGeom prst="rect">
            <a:avLst/>
          </a:prstGeom>
        </p:spPr>
      </p:pic>
      <p:sp>
        <p:nvSpPr>
          <p:cNvPr id="6" name="TextBox 5">
            <a:extLst>
              <a:ext uri="{FF2B5EF4-FFF2-40B4-BE49-F238E27FC236}">
                <a16:creationId xmlns:a16="http://schemas.microsoft.com/office/drawing/2014/main" id="{A08B9B42-EDE1-7CEF-B9DE-167E9A24E95C}"/>
              </a:ext>
            </a:extLst>
          </p:cNvPr>
          <p:cNvSpPr txBox="1"/>
          <p:nvPr userDrawn="1"/>
        </p:nvSpPr>
        <p:spPr>
          <a:xfrm>
            <a:off x="5333761" y="3311952"/>
            <a:ext cx="3185162"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US" sz="3999" b="1" i="0" kern="0">
                <a:solidFill>
                  <a:srgbClr val="00144A"/>
                </a:solidFill>
                <a:latin typeface="72 Brand" panose="020B0504030603020204" pitchFamily="34" charset="0"/>
                <a:ea typeface="72 Brand" pitchFamily="34" charset="-128"/>
                <a:cs typeface="72 Brand" pitchFamily="34" charset="-128"/>
              </a:rPr>
              <a:t>Thank you!</a:t>
            </a:r>
          </a:p>
        </p:txBody>
      </p:sp>
      <p:pic>
        <p:nvPicPr>
          <p:cNvPr id="11" name="Picture 10">
            <a:extLst>
              <a:ext uri="{FF2B5EF4-FFF2-40B4-BE49-F238E27FC236}">
                <a16:creationId xmlns:a16="http://schemas.microsoft.com/office/drawing/2014/main" id="{3100734C-E9DB-B597-56A9-68D5396AB1D6}"/>
              </a:ext>
            </a:extLst>
          </p:cNvPr>
          <p:cNvPicPr>
            <a:picLocks noChangeAspect="1"/>
          </p:cNvPicPr>
          <p:nvPr userDrawn="1"/>
        </p:nvPicPr>
        <p:blipFill>
          <a:blip r:embed="rId3"/>
          <a:stretch>
            <a:fillRect/>
          </a:stretch>
        </p:blipFill>
        <p:spPr>
          <a:xfrm>
            <a:off x="3876543" y="3563531"/>
            <a:ext cx="2633786" cy="891825"/>
          </a:xfrm>
          <a:prstGeom prst="rect">
            <a:avLst/>
          </a:prstGeom>
        </p:spPr>
      </p:pic>
      <p:pic>
        <p:nvPicPr>
          <p:cNvPr id="14" name="Picture 13">
            <a:extLst>
              <a:ext uri="{FF2B5EF4-FFF2-40B4-BE49-F238E27FC236}">
                <a16:creationId xmlns:a16="http://schemas.microsoft.com/office/drawing/2014/main" id="{F36AF5C0-E4C6-FD76-A798-FE94F4813170}"/>
              </a:ext>
            </a:extLst>
          </p:cNvPr>
          <p:cNvPicPr>
            <a:picLocks noChangeAspect="1"/>
          </p:cNvPicPr>
          <p:nvPr userDrawn="1"/>
        </p:nvPicPr>
        <p:blipFill>
          <a:blip r:embed="rId4"/>
          <a:stretch>
            <a:fillRect/>
          </a:stretch>
        </p:blipFill>
        <p:spPr>
          <a:xfrm>
            <a:off x="8489039" y="1316942"/>
            <a:ext cx="3179985" cy="3180813"/>
          </a:xfrm>
          <a:prstGeom prst="rect">
            <a:avLst/>
          </a:prstGeom>
        </p:spPr>
      </p:pic>
      <p:pic>
        <p:nvPicPr>
          <p:cNvPr id="15" name="Picture 14">
            <a:extLst>
              <a:ext uri="{FF2B5EF4-FFF2-40B4-BE49-F238E27FC236}">
                <a16:creationId xmlns:a16="http://schemas.microsoft.com/office/drawing/2014/main" id="{8AD1BABB-60D0-809F-5B81-90411E3EC4C3}"/>
              </a:ext>
            </a:extLst>
          </p:cNvPr>
          <p:cNvPicPr>
            <a:picLocks noChangeAspect="1"/>
          </p:cNvPicPr>
          <p:nvPr userDrawn="1"/>
        </p:nvPicPr>
        <p:blipFill>
          <a:blip r:embed="rId5"/>
          <a:stretch>
            <a:fillRect/>
          </a:stretch>
        </p:blipFill>
        <p:spPr>
          <a:xfrm>
            <a:off x="8087967" y="4118347"/>
            <a:ext cx="336920" cy="337008"/>
          </a:xfrm>
          <a:prstGeom prst="rect">
            <a:avLst/>
          </a:prstGeom>
        </p:spPr>
      </p:pic>
      <p:pic>
        <p:nvPicPr>
          <p:cNvPr id="4" name="Grafik 3">
            <a:extLst>
              <a:ext uri="{FF2B5EF4-FFF2-40B4-BE49-F238E27FC236}">
                <a16:creationId xmlns:a16="http://schemas.microsoft.com/office/drawing/2014/main" id="{96BEB9BE-9AA8-8B7E-C443-DA41A3B5E91F}"/>
              </a:ext>
            </a:extLst>
          </p:cNvPr>
          <p:cNvPicPr>
            <a:picLocks noChangeAspect="1"/>
          </p:cNvPicPr>
          <p:nvPr userDrawn="1"/>
        </p:nvPicPr>
        <p:blipFill>
          <a:blip r:embed="rId6"/>
          <a:srcRect/>
          <a:stretch/>
        </p:blipFill>
        <p:spPr>
          <a:xfrm>
            <a:off x="498346" y="284308"/>
            <a:ext cx="1516142" cy="462943"/>
          </a:xfrm>
          <a:prstGeom prst="rect">
            <a:avLst/>
          </a:prstGeom>
        </p:spPr>
      </p:pic>
    </p:spTree>
    <p:extLst>
      <p:ext uri="{BB962C8B-B14F-4D97-AF65-F5344CB8AC3E}">
        <p14:creationId xmlns:p14="http://schemas.microsoft.com/office/powerpoint/2010/main" val="2941911260"/>
      </p:ext>
    </p:extLst>
  </p:cSld>
  <p:clrMapOvr>
    <a:masterClrMapping/>
  </p:clrMapOvr>
  <p:hf sldNum="0" hdr="0" ftr="0" dt="0"/>
  <p:extLst>
    <p:ext uri="{DCECCB84-F9BA-43D5-87BE-67443E8EF086}">
      <p15:sldGuideLst xmlns:p15="http://schemas.microsoft.com/office/powerpoint/2012/main">
        <p15:guide id="1" pos="7364">
          <p15:clr>
            <a:srgbClr val="FBAE40"/>
          </p15:clr>
        </p15:guide>
        <p15:guide id="2" orient="horz" pos="970">
          <p15:clr>
            <a:srgbClr val="FBAE40"/>
          </p15:clr>
        </p15:guide>
        <p15:guide id="4" orient="horz" pos="1830">
          <p15:clr>
            <a:srgbClr val="FBAE40"/>
          </p15:clr>
        </p15:guide>
        <p15:guide id="5" orient="horz" pos="4000">
          <p15:clr>
            <a:srgbClr val="FBAE40"/>
          </p15:clr>
        </p15:guide>
        <p15:guide id="6" pos="314">
          <p15:clr>
            <a:srgbClr val="FBAE40"/>
          </p15:clr>
        </p15:guide>
        <p15:guide id="8" pos="3841">
          <p15:clr>
            <a:srgbClr val="FBAE40"/>
          </p15:clr>
        </p15:guide>
        <p15:guide id="9" orient="horz" pos="31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8EFC6F-9385-0355-C317-A64BFF6037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3C5F3DE-EE54-8715-CDBA-94F17CD41D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9D42773-15A9-AD9C-3ED8-A674F3AD88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A75249-B798-E34A-9004-2CA786F4D7EC}" type="datetimeFigureOut">
              <a:rPr lang="en-US" smtClean="0"/>
              <a:t>11/23/25</a:t>
            </a:fld>
            <a:endParaRPr lang="en-US"/>
          </a:p>
        </p:txBody>
      </p:sp>
      <p:sp>
        <p:nvSpPr>
          <p:cNvPr id="5" name="Footer Placeholder 4">
            <a:extLst>
              <a:ext uri="{FF2B5EF4-FFF2-40B4-BE49-F238E27FC236}">
                <a16:creationId xmlns:a16="http://schemas.microsoft.com/office/drawing/2014/main" id="{C12A19E5-2D40-3DEC-D67E-7115C137DB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36418FC-3F6E-8DA2-CE5E-C3331C13E0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4E77DE-0602-0145-BF28-92E05AF5AA0D}" type="slidenum">
              <a:rPr lang="en-US" smtClean="0"/>
              <a:t>‹#›</a:t>
            </a:fld>
            <a:endParaRPr lang="en-US"/>
          </a:p>
        </p:txBody>
      </p:sp>
    </p:spTree>
    <p:extLst>
      <p:ext uri="{BB962C8B-B14F-4D97-AF65-F5344CB8AC3E}">
        <p14:creationId xmlns:p14="http://schemas.microsoft.com/office/powerpoint/2010/main" val="15694165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4" r:id="rId14"/>
    <p:sldLayoutId id="2147483665" r:id="rId15"/>
    <p:sldLayoutId id="214748366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1.xml"/><Relationship Id="rId1" Type="http://schemas.openxmlformats.org/officeDocument/2006/relationships/customXml" Target="../../customXml/item2.xml"/><Relationship Id="rId6" Type="http://schemas.openxmlformats.org/officeDocument/2006/relationships/image" Target="../media/image10.png"/><Relationship Id="rId5" Type="http://schemas.openxmlformats.org/officeDocument/2006/relationships/image" Target="../media/image9.jp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5.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8" Type="http://schemas.openxmlformats.org/officeDocument/2006/relationships/hyperlink" Target="https://developers.sap.com/tutorials/application-frontend-mta.html" TargetMode="External"/><Relationship Id="rId3" Type="http://schemas.openxmlformats.org/officeDocument/2006/relationships/hyperlink" Target="https://community.sap.com/t5/technology-blog-posts-by-sap/simple-ui-applications-with-application-frontend-service/ba-p/14096009" TargetMode="External"/><Relationship Id="rId7" Type="http://schemas.openxmlformats.org/officeDocument/2006/relationships/hyperlink" Target="https://developers.sap.com/tutorials/application-frontend-cli.html" TargetMode="External"/><Relationship Id="rId2" Type="http://schemas.openxmlformats.org/officeDocument/2006/relationships/hyperlink" Target="https://community.sap.com/t5/technology-blog-posts-by-sap/introducing-application-frontend-service/ba-p/14091408" TargetMode="External"/><Relationship Id="rId1" Type="http://schemas.openxmlformats.org/officeDocument/2006/relationships/slideLayout" Target="../slideLayouts/slideLayout15.xml"/><Relationship Id="rId6" Type="http://schemas.openxmlformats.org/officeDocument/2006/relationships/hyperlink" Target="https://developers.sap.com/tutorials/application-frontend-trial-setup.html" TargetMode="External"/><Relationship Id="rId5" Type="http://schemas.openxmlformats.org/officeDocument/2006/relationships/hyperlink" Target="https://www.youtube.com/watch?v=cqRC6_50tlE" TargetMode="External"/><Relationship Id="rId4" Type="http://schemas.openxmlformats.org/officeDocument/2006/relationships/hyperlink" Target="https://help.sap.com/docs/application-frontend-service/application-frontend-service/what-is-application-frontend-service" TargetMode="External"/><Relationship Id="rId9" Type="http://schemas.openxmlformats.org/officeDocument/2006/relationships/hyperlink" Target="https://developers.sap.com/group.build-deploy-ui5-cli-frontend-service.html"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192B08-91CA-0821-B514-46C1067BFF8E}"/>
              </a:ext>
            </a:extLst>
          </p:cNvPr>
          <p:cNvSpPr>
            <a:spLocks noGrp="1"/>
          </p:cNvSpPr>
          <p:nvPr>
            <p:ph type="title"/>
          </p:nvPr>
        </p:nvSpPr>
        <p:spPr>
          <a:xfrm>
            <a:off x="287924" y="1858963"/>
            <a:ext cx="5015596" cy="1844550"/>
          </a:xfrm>
        </p:spPr>
        <p:txBody>
          <a:bodyPr/>
          <a:lstStyle/>
          <a:p>
            <a:r>
              <a:rPr lang="en-IN" dirty="0"/>
              <a:t>CT1017 - Simplify UI App hosting with </a:t>
            </a:r>
            <a:r>
              <a:rPr lang="en-IN"/>
              <a:t>Application Frontend </a:t>
            </a:r>
            <a:r>
              <a:rPr lang="en-IN" dirty="0"/>
              <a:t>Service</a:t>
            </a:r>
            <a:endParaRPr lang="de-DE" dirty="0"/>
          </a:p>
        </p:txBody>
      </p:sp>
      <p:sp>
        <p:nvSpPr>
          <p:cNvPr id="3" name="Textplatzhalter 2">
            <a:extLst>
              <a:ext uri="{FF2B5EF4-FFF2-40B4-BE49-F238E27FC236}">
                <a16:creationId xmlns:a16="http://schemas.microsoft.com/office/drawing/2014/main" id="{CBF3AC49-F929-5FA6-2C2C-503CB6C2827B}"/>
              </a:ext>
            </a:extLst>
          </p:cNvPr>
          <p:cNvSpPr>
            <a:spLocks noGrp="1"/>
          </p:cNvSpPr>
          <p:nvPr>
            <p:ph type="body" sz="quarter" idx="23"/>
          </p:nvPr>
        </p:nvSpPr>
        <p:spPr/>
        <p:txBody>
          <a:bodyPr>
            <a:normAutofit fontScale="92500" lnSpcReduction="20000"/>
          </a:bodyPr>
          <a:lstStyle/>
          <a:p>
            <a:r>
              <a:rPr lang="de-DE" dirty="0"/>
              <a:t>Shrinivasan Neelamegam</a:t>
            </a:r>
          </a:p>
          <a:p>
            <a:r>
              <a:rPr lang="de-DE" dirty="0"/>
              <a:t>Developer Advocate, SAP</a:t>
            </a:r>
          </a:p>
        </p:txBody>
      </p:sp>
      <p:sp>
        <p:nvSpPr>
          <p:cNvPr id="4" name="Textplatzhalter 3">
            <a:extLst>
              <a:ext uri="{FF2B5EF4-FFF2-40B4-BE49-F238E27FC236}">
                <a16:creationId xmlns:a16="http://schemas.microsoft.com/office/drawing/2014/main" id="{67814C3B-FC4F-4566-44F1-276700799D92}"/>
              </a:ext>
            </a:extLst>
          </p:cNvPr>
          <p:cNvSpPr>
            <a:spLocks noGrp="1"/>
          </p:cNvSpPr>
          <p:nvPr>
            <p:ph type="body" sz="quarter" idx="25"/>
          </p:nvPr>
        </p:nvSpPr>
        <p:spPr>
          <a:xfrm>
            <a:off x="293261" y="4623707"/>
            <a:ext cx="4270463" cy="736863"/>
          </a:xfrm>
        </p:spPr>
        <p:txBody>
          <a:bodyPr>
            <a:normAutofit lnSpcReduction="10000"/>
          </a:bodyPr>
          <a:lstStyle/>
          <a:p>
            <a:r>
              <a:rPr lang="de-DE" dirty="0"/>
              <a:t>26th November, 2025, </a:t>
            </a:r>
            <a:r>
              <a:rPr lang="en-US" altLang="en-US" dirty="0"/>
              <a:t>14:30 </a:t>
            </a:r>
            <a:r>
              <a:rPr lang="en-US" altLang="en-US" dirty="0" err="1"/>
              <a:t>hrs</a:t>
            </a:r>
            <a:r>
              <a:rPr lang="en-US" altLang="en-US" dirty="0"/>
              <a:t> </a:t>
            </a:r>
          </a:p>
          <a:p>
            <a:r>
              <a:rPr lang="en-US" altLang="en-US" dirty="0"/>
              <a:t>Community Theater, SAP TechEd Bengaluru 2025</a:t>
            </a:r>
          </a:p>
          <a:p>
            <a:pPr lvl="0" defTabSz="914400" eaLnBrk="0" fontAlgn="base" hangingPunct="0">
              <a:spcBef>
                <a:spcPct val="0"/>
              </a:spcBef>
              <a:spcAft>
                <a:spcPct val="0"/>
              </a:spcAft>
              <a:buSzTx/>
              <a:buNone/>
            </a:pPr>
            <a:endParaRPr lang="en-US" altLang="en-US" sz="2000" dirty="0">
              <a:solidFill>
                <a:schemeClr val="tx1"/>
              </a:solidFill>
              <a:latin typeface="Arial" panose="020B0604020202020204" pitchFamily="34" charset="0"/>
            </a:endParaRPr>
          </a:p>
          <a:p>
            <a:endParaRPr lang="de-DE" dirty="0"/>
          </a:p>
          <a:p>
            <a:endParaRPr lang="de-DE" dirty="0"/>
          </a:p>
        </p:txBody>
      </p:sp>
      <p:sp>
        <p:nvSpPr>
          <p:cNvPr id="5" name="Partner Logo Placeholder">
            <a:extLst>
              <a:ext uri="{FF2B5EF4-FFF2-40B4-BE49-F238E27FC236}">
                <a16:creationId xmlns:a16="http://schemas.microsoft.com/office/drawing/2014/main" id="{34A10F11-2F69-2500-5CE2-31CAFCF4D3A7}"/>
              </a:ext>
            </a:extLst>
          </p:cNvPr>
          <p:cNvSpPr txBox="1">
            <a:spLocks/>
          </p:cNvSpPr>
          <p:nvPr/>
        </p:nvSpPr>
        <p:spPr>
          <a:xfrm>
            <a:off x="2534979" y="6187960"/>
            <a:ext cx="1027793" cy="369728"/>
          </a:xfrm>
          <a:prstGeom prst="rect">
            <a:avLst/>
          </a:prstGeom>
          <a:ln>
            <a:solidFill>
              <a:schemeClr val="tx1"/>
            </a:solidFill>
            <a:prstDash val="sysDot"/>
          </a:ln>
        </p:spPr>
        <p:txBody>
          <a:bodyPr anchor="ctr" anchorCtr="0">
            <a:noAutofit/>
          </a:bodyPr>
          <a:lstStyle>
            <a:lvl1pPr marL="0" indent="0" algn="ctr" defTabSz="1088558" rtl="0" eaLnBrk="1" latinLnBrk="0" hangingPunct="1">
              <a:spcBef>
                <a:spcPts val="0"/>
              </a:spcBef>
              <a:buClr>
                <a:schemeClr val="accent1"/>
              </a:buClr>
              <a:buSzPct val="80000"/>
              <a:buFontTx/>
              <a:buNone/>
              <a:defRPr sz="900" b="0" i="0" kern="1200">
                <a:solidFill>
                  <a:schemeClr val="tx1"/>
                </a:solidFill>
                <a:latin typeface="72" panose="020B0503030000000003" pitchFamily="34" charset="0"/>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b="0" i="0" kern="1200">
                <a:solidFill>
                  <a:schemeClr val="tx1"/>
                </a:solidFill>
                <a:latin typeface="72" panose="020B0503030000000003" pitchFamily="34" charset="0"/>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72" panose="020B0503030000000003" pitchFamily="34" charset="0"/>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b="0" i="0" kern="1200">
                <a:solidFill>
                  <a:schemeClr val="tx1"/>
                </a:solidFill>
                <a:latin typeface="72" panose="020B0503030000000003" pitchFamily="34" charset="0"/>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72" panose="020B0503030000000003" pitchFamily="34" charset="0"/>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dirty="0">
                <a:latin typeface="+mn-lt"/>
              </a:rPr>
              <a:t>Add partner </a:t>
            </a:r>
            <a:br>
              <a:rPr lang="en-US" dirty="0">
                <a:latin typeface="+mn-lt"/>
              </a:rPr>
            </a:br>
            <a:r>
              <a:rPr lang="en-US" dirty="0">
                <a:latin typeface="+mn-lt"/>
              </a:rPr>
              <a:t>logo and alt text</a:t>
            </a:r>
          </a:p>
        </p:txBody>
      </p:sp>
    </p:spTree>
    <p:extLst>
      <p:ext uri="{BB962C8B-B14F-4D97-AF65-F5344CB8AC3E}">
        <p14:creationId xmlns:p14="http://schemas.microsoft.com/office/powerpoint/2010/main" val="3078379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dplatzhalter 6">
            <a:extLst>
              <a:ext uri="{FF2B5EF4-FFF2-40B4-BE49-F238E27FC236}">
                <a16:creationId xmlns:a16="http://schemas.microsoft.com/office/drawing/2014/main" id="{0367C36E-CF08-8171-4E41-AF488350814C}"/>
              </a:ext>
            </a:extLst>
          </p:cNvPr>
          <p:cNvPicPr>
            <a:picLocks noGrp="1" noChangeAspect="1"/>
          </p:cNvPicPr>
          <p:nvPr>
            <p:ph type="pic" sz="quarter" idx="10"/>
          </p:nvPr>
        </p:nvPicPr>
        <p:blipFill>
          <a:blip r:embed="rId5"/>
          <a:srcRect l="21895" r="35004" b="8131"/>
          <a:stretch>
            <a:fillRect/>
          </a:stretch>
        </p:blipFill>
        <p:spPr>
          <a:xfrm>
            <a:off x="7362270" y="893"/>
            <a:ext cx="4829731" cy="6856215"/>
          </a:xfrm>
        </p:spPr>
      </p:pic>
      <p:sp>
        <p:nvSpPr>
          <p:cNvPr id="2" name="Agenda"/>
          <p:cNvSpPr>
            <a:spLocks noGrp="1"/>
          </p:cNvSpPr>
          <p:nvPr>
            <p:ph type="title"/>
          </p:nvPr>
        </p:nvSpPr>
        <p:spPr bwMode="gray">
          <a:xfrm>
            <a:off x="503869" y="505381"/>
            <a:ext cx="5209643" cy="699964"/>
          </a:xfrm>
        </p:spPr>
        <p:txBody>
          <a:bodyPr>
            <a:normAutofit/>
          </a:bodyPr>
          <a:lstStyle/>
          <a:p>
            <a:r>
              <a:rPr lang="en-US" sz="4000" dirty="0"/>
              <a:t>Agenda</a:t>
            </a:r>
          </a:p>
        </p:txBody>
      </p:sp>
      <p:sp>
        <p:nvSpPr>
          <p:cNvPr id="3" name="Agenda items"/>
          <p:cNvSpPr>
            <a:spLocks noGrp="1"/>
          </p:cNvSpPr>
          <p:nvPr>
            <p:ph type="body" sz="quarter" idx="11"/>
          </p:nvPr>
        </p:nvSpPr>
        <p:spPr bwMode="gray"/>
        <p:txBody>
          <a:bodyPr>
            <a:noAutofit/>
          </a:bodyPr>
          <a:lstStyle/>
          <a:p>
            <a:pPr>
              <a:lnSpc>
                <a:spcPct val="150000"/>
              </a:lnSpc>
            </a:pPr>
            <a:r>
              <a:rPr lang="en-US" dirty="0"/>
              <a:t>Application Frontend - Introduction</a:t>
            </a:r>
          </a:p>
          <a:p>
            <a:pPr>
              <a:lnSpc>
                <a:spcPct val="150000"/>
              </a:lnSpc>
            </a:pPr>
            <a:r>
              <a:rPr lang="en-US" dirty="0"/>
              <a:t>Architecture</a:t>
            </a:r>
          </a:p>
          <a:p>
            <a:pPr>
              <a:lnSpc>
                <a:spcPct val="150000"/>
              </a:lnSpc>
            </a:pPr>
            <a:r>
              <a:rPr lang="en-US" dirty="0"/>
              <a:t>Pre-requisites for setup</a:t>
            </a:r>
          </a:p>
          <a:p>
            <a:pPr>
              <a:lnSpc>
                <a:spcPct val="150000"/>
              </a:lnSpc>
            </a:pPr>
            <a:r>
              <a:rPr lang="en-US" dirty="0"/>
              <a:t>Code walkthrough &amp; Demo</a:t>
            </a:r>
          </a:p>
          <a:p>
            <a:pPr>
              <a:lnSpc>
                <a:spcPct val="150000"/>
              </a:lnSpc>
            </a:pPr>
            <a:r>
              <a:rPr lang="en-US" dirty="0"/>
              <a:t>Reference material and resources</a:t>
            </a:r>
          </a:p>
          <a:p>
            <a:pPr lvl="1">
              <a:lnSpc>
                <a:spcPct val="150000"/>
              </a:lnSpc>
            </a:pPr>
            <a:endParaRPr lang="en-US" sz="2800" dirty="0"/>
          </a:p>
        </p:txBody>
      </p:sp>
      <p:pic>
        <p:nvPicPr>
          <p:cNvPr id="12" name="Grafik 11" descr="Ein Bild, das Screenshot, Farbigkeit, Grafiken, Kreis enthält.&#10;&#10;KI-generierte Inhalte können fehlerhaft sein.">
            <a:extLst>
              <a:ext uri="{FF2B5EF4-FFF2-40B4-BE49-F238E27FC236}">
                <a16:creationId xmlns:a16="http://schemas.microsoft.com/office/drawing/2014/main" id="{B05C0EFC-7F89-E922-4341-CC21A2F3BBD5}"/>
              </a:ext>
            </a:extLst>
          </p:cNvPr>
          <p:cNvPicPr>
            <a:picLocks noChangeAspect="1"/>
          </p:cNvPicPr>
          <p:nvPr/>
        </p:nvPicPr>
        <p:blipFill>
          <a:blip r:embed="rId6"/>
          <a:srcRect l="37144" r="-1526"/>
          <a:stretch>
            <a:fillRect/>
          </a:stretch>
        </p:blipFill>
        <p:spPr>
          <a:xfrm>
            <a:off x="7362268" y="341969"/>
            <a:ext cx="2857722" cy="6175672"/>
          </a:xfrm>
          <a:prstGeom prst="rect">
            <a:avLst/>
          </a:prstGeom>
        </p:spPr>
      </p:pic>
    </p:spTree>
    <p:custDataLst>
      <p:custData r:id="rId1"/>
      <p:custData r:id="rId2"/>
    </p:custDataLst>
    <p:extLst>
      <p:ext uri="{BB962C8B-B14F-4D97-AF65-F5344CB8AC3E}">
        <p14:creationId xmlns:p14="http://schemas.microsoft.com/office/powerpoint/2010/main" val="1677995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CF386C52-8132-59D1-34FF-C7357E953F66}"/>
              </a:ext>
            </a:extLst>
          </p:cNvPr>
          <p:cNvSpPr>
            <a:spLocks noGrp="1"/>
          </p:cNvSpPr>
          <p:nvPr>
            <p:ph type="body" sz="quarter" idx="10"/>
          </p:nvPr>
        </p:nvSpPr>
        <p:spPr/>
        <p:txBody>
          <a:bodyPr>
            <a:normAutofit fontScale="92500" lnSpcReduction="20000"/>
          </a:bodyPr>
          <a:lstStyle/>
          <a:p>
            <a:pPr algn="just">
              <a:lnSpc>
                <a:spcPct val="150000"/>
              </a:lnSpc>
            </a:pPr>
            <a:r>
              <a:rPr lang="en-IN" dirty="0"/>
              <a:t>New SaaS application on SAP Business Technology Platform (BTP) for </a:t>
            </a:r>
            <a:r>
              <a:rPr lang="en-IN" b="1" dirty="0"/>
              <a:t>hosting, serving </a:t>
            </a:r>
            <a:r>
              <a:rPr lang="en-IN" dirty="0"/>
              <a:t>and operating </a:t>
            </a:r>
            <a:r>
              <a:rPr lang="en-IN" b="1" dirty="0"/>
              <a:t>frontend</a:t>
            </a:r>
            <a:r>
              <a:rPr lang="en-IN" dirty="0"/>
              <a:t> applications </a:t>
            </a:r>
          </a:p>
          <a:p>
            <a:pPr algn="just">
              <a:lnSpc>
                <a:spcPct val="150000"/>
              </a:lnSpc>
            </a:pPr>
            <a:r>
              <a:rPr lang="en-IN" b="1" dirty="0"/>
              <a:t>Agnostic</a:t>
            </a:r>
            <a:r>
              <a:rPr lang="en-IN" dirty="0"/>
              <a:t> to the tools, development model, and UI frameworks that are used to develop UI applications</a:t>
            </a:r>
          </a:p>
          <a:p>
            <a:pPr algn="just">
              <a:lnSpc>
                <a:spcPct val="150000"/>
              </a:lnSpc>
            </a:pPr>
            <a:r>
              <a:rPr lang="en-IN" dirty="0"/>
              <a:t>Host-based </a:t>
            </a:r>
            <a:r>
              <a:rPr lang="en-IN" b="1" dirty="0"/>
              <a:t>routing</a:t>
            </a:r>
            <a:r>
              <a:rPr lang="en-IN" dirty="0"/>
              <a:t>, the </a:t>
            </a:r>
            <a:r>
              <a:rPr lang="en-IN" b="1" dirty="0"/>
              <a:t>versioning</a:t>
            </a:r>
            <a:r>
              <a:rPr lang="en-IN" dirty="0"/>
              <a:t> concept and a direct </a:t>
            </a:r>
            <a:r>
              <a:rPr lang="en-IN" b="1" dirty="0"/>
              <a:t>deployment</a:t>
            </a:r>
            <a:r>
              <a:rPr lang="en-IN" dirty="0"/>
              <a:t> option</a:t>
            </a:r>
          </a:p>
          <a:p>
            <a:pPr algn="just">
              <a:lnSpc>
                <a:spcPct val="150000"/>
              </a:lnSpc>
            </a:pPr>
            <a:r>
              <a:rPr lang="en-IN" dirty="0"/>
              <a:t>Part of SAP Build license</a:t>
            </a:r>
          </a:p>
          <a:p>
            <a:pPr algn="just">
              <a:lnSpc>
                <a:spcPct val="150000"/>
              </a:lnSpc>
            </a:pPr>
            <a:r>
              <a:rPr lang="en-IN" dirty="0"/>
              <a:t>Available in </a:t>
            </a:r>
            <a:r>
              <a:rPr lang="en-IN" b="1" dirty="0"/>
              <a:t>20</a:t>
            </a:r>
            <a:r>
              <a:rPr lang="en-IN" dirty="0"/>
              <a:t> main regions including the BTP Trial landscape(US10)</a:t>
            </a:r>
            <a:endParaRPr lang="de-DE" dirty="0"/>
          </a:p>
        </p:txBody>
      </p:sp>
      <p:sp>
        <p:nvSpPr>
          <p:cNvPr id="3" name="Titel 2">
            <a:extLst>
              <a:ext uri="{FF2B5EF4-FFF2-40B4-BE49-F238E27FC236}">
                <a16:creationId xmlns:a16="http://schemas.microsoft.com/office/drawing/2014/main" id="{FB095633-BF42-95F0-2115-6E1B3119FEF0}"/>
              </a:ext>
            </a:extLst>
          </p:cNvPr>
          <p:cNvSpPr>
            <a:spLocks noGrp="1"/>
          </p:cNvSpPr>
          <p:nvPr>
            <p:ph type="title"/>
          </p:nvPr>
        </p:nvSpPr>
        <p:spPr/>
        <p:txBody>
          <a:bodyPr>
            <a:noAutofit/>
          </a:bodyPr>
          <a:lstStyle/>
          <a:p>
            <a:r>
              <a:rPr lang="de-DE" sz="4000" dirty="0">
                <a:latin typeface="72 Brand Medium" panose="020B0504030603020204" pitchFamily="34" charset="0"/>
              </a:rPr>
              <a:t>App Frontend - </a:t>
            </a:r>
            <a:r>
              <a:rPr lang="de-DE" sz="4000" dirty="0" err="1">
                <a:latin typeface="72 Brand Medium" panose="020B0504030603020204" pitchFamily="34" charset="0"/>
              </a:rPr>
              <a:t>Introduction</a:t>
            </a:r>
            <a:endParaRPr lang="de-DE" sz="4000" dirty="0">
              <a:latin typeface="72 Brand Medium" panose="020B0504030603020204" pitchFamily="34" charset="0"/>
            </a:endParaRPr>
          </a:p>
        </p:txBody>
      </p:sp>
    </p:spTree>
    <p:extLst>
      <p:ext uri="{BB962C8B-B14F-4D97-AF65-F5344CB8AC3E}">
        <p14:creationId xmlns:p14="http://schemas.microsoft.com/office/powerpoint/2010/main" val="2530876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DD4F9-235C-2F0E-9258-7B8808F8B06A}"/>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30AD5043-22F4-E43C-C5B9-B43C11D2B602}"/>
              </a:ext>
            </a:extLst>
          </p:cNvPr>
          <p:cNvSpPr>
            <a:spLocks noGrp="1"/>
          </p:cNvSpPr>
          <p:nvPr>
            <p:ph type="title"/>
          </p:nvPr>
        </p:nvSpPr>
        <p:spPr/>
        <p:txBody>
          <a:bodyPr>
            <a:noAutofit/>
          </a:bodyPr>
          <a:lstStyle/>
          <a:p>
            <a:r>
              <a:rPr lang="de-DE" sz="4000" dirty="0">
                <a:latin typeface="72 Brand Medium" panose="020B0504030603020204" pitchFamily="34" charset="0"/>
              </a:rPr>
              <a:t>Architecture</a:t>
            </a:r>
          </a:p>
        </p:txBody>
      </p:sp>
      <p:pic>
        <p:nvPicPr>
          <p:cNvPr id="4" name="Picture 3">
            <a:extLst>
              <a:ext uri="{FF2B5EF4-FFF2-40B4-BE49-F238E27FC236}">
                <a16:creationId xmlns:a16="http://schemas.microsoft.com/office/drawing/2014/main" id="{094288D8-67B9-AD07-3AA9-49B39D13CB5C}"/>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 contrast="-19000"/>
                    </a14:imgEffect>
                  </a14:imgLayer>
                </a14:imgProps>
              </a:ext>
            </a:extLst>
          </a:blip>
          <a:stretch>
            <a:fillRect/>
          </a:stretch>
        </p:blipFill>
        <p:spPr>
          <a:xfrm>
            <a:off x="2209451" y="1099820"/>
            <a:ext cx="7772400" cy="5254180"/>
          </a:xfrm>
          <a:prstGeom prst="rect">
            <a:avLst/>
          </a:prstGeom>
        </p:spPr>
      </p:pic>
    </p:spTree>
    <p:extLst>
      <p:ext uri="{BB962C8B-B14F-4D97-AF65-F5344CB8AC3E}">
        <p14:creationId xmlns:p14="http://schemas.microsoft.com/office/powerpoint/2010/main" val="28043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8D704-674D-6C8C-40A2-F514180BC69D}"/>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CD251015-263F-DF64-0F7D-760E3B925533}"/>
              </a:ext>
            </a:extLst>
          </p:cNvPr>
          <p:cNvSpPr>
            <a:spLocks noGrp="1"/>
          </p:cNvSpPr>
          <p:nvPr>
            <p:ph type="title"/>
          </p:nvPr>
        </p:nvSpPr>
        <p:spPr>
          <a:xfrm>
            <a:off x="382772" y="276447"/>
            <a:ext cx="11809228" cy="906894"/>
          </a:xfrm>
        </p:spPr>
        <p:txBody>
          <a:bodyPr>
            <a:noAutofit/>
          </a:bodyPr>
          <a:lstStyle/>
          <a:p>
            <a:r>
              <a:rPr lang="de-DE" sz="4000" dirty="0" err="1">
                <a:latin typeface="72 Brand Medium" panose="020B0504030603020204" pitchFamily="34" charset="0"/>
              </a:rPr>
              <a:t>Current</a:t>
            </a:r>
            <a:r>
              <a:rPr lang="de-DE" sz="4000" dirty="0">
                <a:latin typeface="72 Brand Medium" panose="020B0504030603020204" pitchFamily="34" charset="0"/>
              </a:rPr>
              <a:t>	 </a:t>
            </a:r>
            <a:r>
              <a:rPr lang="de-DE" sz="4000" dirty="0" err="1">
                <a:latin typeface="72 Brand Medium" panose="020B0504030603020204" pitchFamily="34" charset="0"/>
              </a:rPr>
              <a:t>vs</a:t>
            </a:r>
            <a:r>
              <a:rPr lang="de-DE" sz="4000" dirty="0">
                <a:latin typeface="72 Brand Medium" panose="020B0504030603020204" pitchFamily="34" charset="0"/>
              </a:rPr>
              <a:t> New</a:t>
            </a:r>
          </a:p>
        </p:txBody>
      </p:sp>
      <p:pic>
        <p:nvPicPr>
          <p:cNvPr id="4" name="Picture 3">
            <a:extLst>
              <a:ext uri="{FF2B5EF4-FFF2-40B4-BE49-F238E27FC236}">
                <a16:creationId xmlns:a16="http://schemas.microsoft.com/office/drawing/2014/main" id="{D33789C9-C6C5-2777-F822-68D08BBAECE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76000"/>
                    </a14:imgEffect>
                    <a14:imgEffect>
                      <a14:brightnessContrast bright="25000"/>
                    </a14:imgEffect>
                  </a14:imgLayer>
                </a14:imgProps>
              </a:ext>
            </a:extLst>
          </a:blip>
          <a:stretch>
            <a:fillRect/>
          </a:stretch>
        </p:blipFill>
        <p:spPr>
          <a:xfrm>
            <a:off x="1775229" y="1188076"/>
            <a:ext cx="8213898" cy="4481848"/>
          </a:xfrm>
          <a:prstGeom prst="rect">
            <a:avLst/>
          </a:prstGeom>
          <a:noFill/>
        </p:spPr>
      </p:pic>
      <p:sp>
        <p:nvSpPr>
          <p:cNvPr id="2" name="TextBox 1">
            <a:extLst>
              <a:ext uri="{FF2B5EF4-FFF2-40B4-BE49-F238E27FC236}">
                <a16:creationId xmlns:a16="http://schemas.microsoft.com/office/drawing/2014/main" id="{B6774765-E23D-5815-2CBE-88602E92358A}"/>
              </a:ext>
            </a:extLst>
          </p:cNvPr>
          <p:cNvSpPr txBox="1"/>
          <p:nvPr/>
        </p:nvSpPr>
        <p:spPr>
          <a:xfrm>
            <a:off x="831273" y="5669924"/>
            <a:ext cx="10529453" cy="830997"/>
          </a:xfrm>
          <a:prstGeom prst="rect">
            <a:avLst/>
          </a:prstGeom>
          <a:noFill/>
        </p:spPr>
        <p:txBody>
          <a:bodyPr wrap="square" rtlCol="0">
            <a:spAutoFit/>
          </a:bodyPr>
          <a:lstStyle/>
          <a:p>
            <a:r>
              <a:rPr lang="en-US" sz="2400" dirty="0"/>
              <a:t>Note: Both approaches will exist going forward, with App Frontend becoming the primary approach at some point in future</a:t>
            </a:r>
          </a:p>
        </p:txBody>
      </p:sp>
      <p:sp>
        <p:nvSpPr>
          <p:cNvPr id="5" name="TextBox 4">
            <a:extLst>
              <a:ext uri="{FF2B5EF4-FFF2-40B4-BE49-F238E27FC236}">
                <a16:creationId xmlns:a16="http://schemas.microsoft.com/office/drawing/2014/main" id="{B3C182C7-417B-B00D-72FF-6810FA05222B}"/>
              </a:ext>
            </a:extLst>
          </p:cNvPr>
          <p:cNvSpPr txBox="1"/>
          <p:nvPr/>
        </p:nvSpPr>
        <p:spPr>
          <a:xfrm>
            <a:off x="2636874" y="1616149"/>
            <a:ext cx="1010093" cy="523220"/>
          </a:xfrm>
          <a:prstGeom prst="rect">
            <a:avLst/>
          </a:prstGeom>
          <a:noFill/>
        </p:spPr>
        <p:txBody>
          <a:bodyPr wrap="square" rtlCol="0">
            <a:spAutoFit/>
          </a:bodyPr>
          <a:lstStyle/>
          <a:p>
            <a:pPr algn="ctr"/>
            <a:r>
              <a:rPr lang="en-US" sz="1400" dirty="0"/>
              <a:t>Static content</a:t>
            </a:r>
          </a:p>
        </p:txBody>
      </p:sp>
    </p:spTree>
    <p:extLst>
      <p:ext uri="{BB962C8B-B14F-4D97-AF65-F5344CB8AC3E}">
        <p14:creationId xmlns:p14="http://schemas.microsoft.com/office/powerpoint/2010/main" val="3412480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4F09BC-1017-7716-8D94-3AB8AB5E7807}"/>
              </a:ext>
            </a:extLst>
          </p:cNvPr>
          <p:cNvSpPr>
            <a:spLocks noGrp="1"/>
          </p:cNvSpPr>
          <p:nvPr>
            <p:ph type="body" sz="quarter" idx="10"/>
          </p:nvPr>
        </p:nvSpPr>
        <p:spPr>
          <a:xfrm>
            <a:off x="503869" y="1254642"/>
            <a:ext cx="11183565" cy="5081258"/>
          </a:xfrm>
        </p:spPr>
        <p:txBody>
          <a:bodyPr>
            <a:normAutofit lnSpcReduction="10000"/>
          </a:bodyPr>
          <a:lstStyle/>
          <a:p>
            <a:pPr>
              <a:lnSpc>
                <a:spcPct val="150000"/>
              </a:lnSpc>
            </a:pPr>
            <a:r>
              <a:rPr lang="en-US" b="1" dirty="0"/>
              <a:t>build-default</a:t>
            </a:r>
            <a:r>
              <a:rPr lang="en-US" dirty="0"/>
              <a:t> subscription of Application Frontend, </a:t>
            </a:r>
            <a:r>
              <a:rPr lang="en-US" b="1" dirty="0"/>
              <a:t>Trial</a:t>
            </a:r>
            <a:r>
              <a:rPr lang="en-US" dirty="0"/>
              <a:t> plan subscription if using BTP Free Trial</a:t>
            </a:r>
          </a:p>
          <a:p>
            <a:pPr>
              <a:lnSpc>
                <a:spcPct val="150000"/>
              </a:lnSpc>
            </a:pPr>
            <a:r>
              <a:rPr lang="en-IN" dirty="0"/>
              <a:t>Subscribe to </a:t>
            </a:r>
            <a:r>
              <a:rPr lang="en-IN" b="1" dirty="0"/>
              <a:t>SAP Cloud Identity tenant (default)</a:t>
            </a:r>
            <a:r>
              <a:rPr lang="en-IN" dirty="0"/>
              <a:t>, establish Trust</a:t>
            </a:r>
            <a:endParaRPr lang="en-US" dirty="0"/>
          </a:p>
          <a:p>
            <a:pPr>
              <a:lnSpc>
                <a:spcPct val="150000"/>
              </a:lnSpc>
            </a:pPr>
            <a:r>
              <a:rPr lang="en-US" dirty="0"/>
              <a:t>Business Application Studio(standard) or Visual Studio Code or CLI</a:t>
            </a:r>
          </a:p>
          <a:p>
            <a:pPr>
              <a:lnSpc>
                <a:spcPct val="150000"/>
              </a:lnSpc>
            </a:pPr>
            <a:r>
              <a:rPr lang="en-IN" dirty="0"/>
              <a:t>Node.js </a:t>
            </a:r>
            <a:r>
              <a:rPr lang="en-IN" b="1" dirty="0"/>
              <a:t>v22.6.0</a:t>
            </a:r>
            <a:r>
              <a:rPr lang="en-IN" dirty="0"/>
              <a:t> as minimum version</a:t>
            </a:r>
          </a:p>
          <a:p>
            <a:pPr>
              <a:lnSpc>
                <a:spcPct val="150000"/>
              </a:lnSpc>
            </a:pPr>
            <a:r>
              <a:rPr lang="en-IN" dirty="0"/>
              <a:t>Application Frontend service CLI tool—</a:t>
            </a:r>
            <a:r>
              <a:rPr lang="en-IN" b="1" dirty="0" err="1"/>
              <a:t>afctl</a:t>
            </a:r>
            <a:endParaRPr lang="en-IN" b="1" dirty="0"/>
          </a:p>
          <a:p>
            <a:pPr>
              <a:lnSpc>
                <a:spcPct val="150000"/>
              </a:lnSpc>
            </a:pPr>
            <a:r>
              <a:rPr lang="en-IN" dirty="0"/>
              <a:t>Role: </a:t>
            </a:r>
            <a:r>
              <a:rPr lang="en-IN" dirty="0" err="1"/>
              <a:t>Application_Frontend_Developer</a:t>
            </a:r>
            <a:endParaRPr lang="en-US" dirty="0"/>
          </a:p>
        </p:txBody>
      </p:sp>
      <p:sp>
        <p:nvSpPr>
          <p:cNvPr id="3" name="Title 2">
            <a:extLst>
              <a:ext uri="{FF2B5EF4-FFF2-40B4-BE49-F238E27FC236}">
                <a16:creationId xmlns:a16="http://schemas.microsoft.com/office/drawing/2014/main" id="{62F0C753-120B-2349-CD56-23AAF65C050E}"/>
              </a:ext>
            </a:extLst>
          </p:cNvPr>
          <p:cNvSpPr>
            <a:spLocks noGrp="1"/>
          </p:cNvSpPr>
          <p:nvPr>
            <p:ph type="title"/>
          </p:nvPr>
        </p:nvSpPr>
        <p:spPr/>
        <p:txBody>
          <a:bodyPr>
            <a:normAutofit fontScale="90000"/>
          </a:bodyPr>
          <a:lstStyle/>
          <a:p>
            <a:r>
              <a:rPr lang="en-US" sz="4000" dirty="0">
                <a:latin typeface="72 Brand Medium" panose="020B0504030603020204" pitchFamily="34" charset="0"/>
              </a:rPr>
              <a:t>Pre-requisites</a:t>
            </a:r>
          </a:p>
        </p:txBody>
      </p:sp>
    </p:spTree>
    <p:extLst>
      <p:ext uri="{BB962C8B-B14F-4D97-AF65-F5344CB8AC3E}">
        <p14:creationId xmlns:p14="http://schemas.microsoft.com/office/powerpoint/2010/main" val="1164246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7E1A4-C53A-69DA-341E-7862E9853A79}"/>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4D476702-61F7-A6AF-6C95-4CD5BD51DA67}"/>
              </a:ext>
            </a:extLst>
          </p:cNvPr>
          <p:cNvSpPr>
            <a:spLocks noGrp="1"/>
          </p:cNvSpPr>
          <p:nvPr>
            <p:ph type="body" sz="quarter" idx="10"/>
          </p:nvPr>
        </p:nvSpPr>
        <p:spPr/>
        <p:txBody>
          <a:bodyPr/>
          <a:lstStyle/>
          <a:p>
            <a:pPr algn="just"/>
            <a:r>
              <a:rPr lang="de-DE" dirty="0" err="1"/>
              <a:t>manifest.json</a:t>
            </a:r>
            <a:endParaRPr lang="de-DE" dirty="0"/>
          </a:p>
          <a:p>
            <a:pPr algn="just"/>
            <a:r>
              <a:rPr lang="de-DE" dirty="0" err="1"/>
              <a:t>xs-app.json</a:t>
            </a:r>
            <a:endParaRPr lang="de-DE" dirty="0"/>
          </a:p>
          <a:p>
            <a:pPr algn="just"/>
            <a:r>
              <a:rPr lang="de-DE" dirty="0" err="1"/>
              <a:t>index.html</a:t>
            </a:r>
            <a:endParaRPr lang="de-DE" dirty="0"/>
          </a:p>
        </p:txBody>
      </p:sp>
      <p:sp>
        <p:nvSpPr>
          <p:cNvPr id="3" name="Titel 2">
            <a:extLst>
              <a:ext uri="{FF2B5EF4-FFF2-40B4-BE49-F238E27FC236}">
                <a16:creationId xmlns:a16="http://schemas.microsoft.com/office/drawing/2014/main" id="{C12AB013-4B40-A704-F701-451276836609}"/>
              </a:ext>
            </a:extLst>
          </p:cNvPr>
          <p:cNvSpPr>
            <a:spLocks noGrp="1"/>
          </p:cNvSpPr>
          <p:nvPr>
            <p:ph type="title"/>
          </p:nvPr>
        </p:nvSpPr>
        <p:spPr>
          <a:xfrm>
            <a:off x="503869" y="430168"/>
            <a:ext cx="11183564" cy="569292"/>
          </a:xfrm>
        </p:spPr>
        <p:txBody>
          <a:bodyPr>
            <a:noAutofit/>
          </a:bodyPr>
          <a:lstStyle/>
          <a:p>
            <a:r>
              <a:rPr lang="de-DE" sz="4000" dirty="0">
                <a:latin typeface="72 Brand Medium" panose="020B0504030603020204" pitchFamily="34" charset="0"/>
              </a:rPr>
              <a:t>Minimum </a:t>
            </a:r>
            <a:r>
              <a:rPr lang="de-DE" sz="4000" dirty="0" err="1">
                <a:latin typeface="72 Brand Medium" panose="020B0504030603020204" pitchFamily="34" charset="0"/>
              </a:rPr>
              <a:t>files</a:t>
            </a:r>
            <a:r>
              <a:rPr lang="de-DE" sz="4000" dirty="0">
                <a:latin typeface="72 Brand Medium" panose="020B0504030603020204" pitchFamily="34" charset="0"/>
              </a:rPr>
              <a:t> </a:t>
            </a:r>
            <a:r>
              <a:rPr lang="de-DE" sz="4000" dirty="0" err="1">
                <a:latin typeface="72 Brand Medium" panose="020B0504030603020204" pitchFamily="34" charset="0"/>
              </a:rPr>
              <a:t>required</a:t>
            </a:r>
            <a:endParaRPr lang="de-DE" sz="4000" dirty="0">
              <a:latin typeface="72 Brand Medium" panose="020B0504030603020204" pitchFamily="34" charset="0"/>
            </a:endParaRPr>
          </a:p>
        </p:txBody>
      </p:sp>
      <p:pic>
        <p:nvPicPr>
          <p:cNvPr id="9" name="Picture 8">
            <a:extLst>
              <a:ext uri="{FF2B5EF4-FFF2-40B4-BE49-F238E27FC236}">
                <a16:creationId xmlns:a16="http://schemas.microsoft.com/office/drawing/2014/main" id="{057C0F73-7B62-521B-7382-0BF83671A177}"/>
              </a:ext>
            </a:extLst>
          </p:cNvPr>
          <p:cNvPicPr>
            <a:picLocks noChangeAspect="1"/>
          </p:cNvPicPr>
          <p:nvPr/>
        </p:nvPicPr>
        <p:blipFill>
          <a:blip r:embed="rId2"/>
          <a:stretch>
            <a:fillRect/>
          </a:stretch>
        </p:blipFill>
        <p:spPr>
          <a:xfrm>
            <a:off x="3693160" y="1849120"/>
            <a:ext cx="3505200" cy="2286000"/>
          </a:xfrm>
          <a:prstGeom prst="rect">
            <a:avLst/>
          </a:prstGeom>
        </p:spPr>
      </p:pic>
      <p:pic>
        <p:nvPicPr>
          <p:cNvPr id="11" name="Picture 10">
            <a:extLst>
              <a:ext uri="{FF2B5EF4-FFF2-40B4-BE49-F238E27FC236}">
                <a16:creationId xmlns:a16="http://schemas.microsoft.com/office/drawing/2014/main" id="{24A0253F-C73B-030C-5364-CC4A1831204B}"/>
              </a:ext>
            </a:extLst>
          </p:cNvPr>
          <p:cNvPicPr>
            <a:picLocks noChangeAspect="1"/>
          </p:cNvPicPr>
          <p:nvPr/>
        </p:nvPicPr>
        <p:blipFill>
          <a:blip r:embed="rId3"/>
          <a:stretch>
            <a:fillRect/>
          </a:stretch>
        </p:blipFill>
        <p:spPr>
          <a:xfrm>
            <a:off x="7791512" y="430168"/>
            <a:ext cx="3994088" cy="2204969"/>
          </a:xfrm>
          <a:prstGeom prst="rect">
            <a:avLst/>
          </a:prstGeom>
        </p:spPr>
      </p:pic>
      <p:pic>
        <p:nvPicPr>
          <p:cNvPr id="12" name="Picture 11">
            <a:extLst>
              <a:ext uri="{FF2B5EF4-FFF2-40B4-BE49-F238E27FC236}">
                <a16:creationId xmlns:a16="http://schemas.microsoft.com/office/drawing/2014/main" id="{7F99B96D-7097-EF15-4254-B182BC10509C}"/>
              </a:ext>
            </a:extLst>
          </p:cNvPr>
          <p:cNvPicPr>
            <a:picLocks noChangeAspect="1"/>
          </p:cNvPicPr>
          <p:nvPr/>
        </p:nvPicPr>
        <p:blipFill>
          <a:blip r:embed="rId4"/>
          <a:stretch>
            <a:fillRect/>
          </a:stretch>
        </p:blipFill>
        <p:spPr>
          <a:xfrm>
            <a:off x="7791511" y="2926300"/>
            <a:ext cx="4116009" cy="3570934"/>
          </a:xfrm>
          <a:prstGeom prst="rect">
            <a:avLst/>
          </a:prstGeom>
        </p:spPr>
      </p:pic>
    </p:spTree>
    <p:extLst>
      <p:ext uri="{BB962C8B-B14F-4D97-AF65-F5344CB8AC3E}">
        <p14:creationId xmlns:p14="http://schemas.microsoft.com/office/powerpoint/2010/main" val="1382564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48AAF9-0DC8-B649-BCA1-F28D886DDE06}"/>
              </a:ext>
            </a:extLst>
          </p:cNvPr>
          <p:cNvSpPr>
            <a:spLocks noGrp="1"/>
          </p:cNvSpPr>
          <p:nvPr>
            <p:ph type="ctrTitle"/>
          </p:nvPr>
        </p:nvSpPr>
        <p:spPr/>
        <p:txBody>
          <a:bodyPr/>
          <a:lstStyle/>
          <a:p>
            <a:r>
              <a:rPr lang="de-DE" sz="4000" dirty="0"/>
              <a:t>Demo</a:t>
            </a:r>
            <a:endParaRPr lang="de-DE" dirty="0"/>
          </a:p>
        </p:txBody>
      </p:sp>
    </p:spTree>
    <p:extLst>
      <p:ext uri="{BB962C8B-B14F-4D97-AF65-F5344CB8AC3E}">
        <p14:creationId xmlns:p14="http://schemas.microsoft.com/office/powerpoint/2010/main" val="1281419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82CC8-9BE2-C60D-92FB-692C7AF00600}"/>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E8E46FF9-D91E-316E-4B9F-71555EB010AB}"/>
              </a:ext>
            </a:extLst>
          </p:cNvPr>
          <p:cNvSpPr>
            <a:spLocks noGrp="1"/>
          </p:cNvSpPr>
          <p:nvPr>
            <p:ph type="body" sz="quarter" idx="10"/>
          </p:nvPr>
        </p:nvSpPr>
        <p:spPr/>
        <p:txBody>
          <a:bodyPr/>
          <a:lstStyle/>
          <a:p>
            <a:pPr algn="just"/>
            <a:r>
              <a:rPr lang="en-IN" dirty="0"/>
              <a:t>You can deploy a maximum number of 10 versions of an application</a:t>
            </a:r>
          </a:p>
          <a:p>
            <a:pPr lvl="1" algn="just"/>
            <a:r>
              <a:rPr lang="en-IN" dirty="0"/>
              <a:t>One version can be active at a time, that version is available for end users</a:t>
            </a:r>
          </a:p>
          <a:p>
            <a:pPr lvl="1" algn="just"/>
            <a:r>
              <a:rPr lang="en-IN" dirty="0"/>
              <a:t>When you have reached this limit, you must delete an older version before deploying a new one</a:t>
            </a:r>
            <a:endParaRPr lang="de-DE" dirty="0"/>
          </a:p>
          <a:p>
            <a:pPr lvl="1" algn="just"/>
            <a:endParaRPr lang="en-IN" dirty="0"/>
          </a:p>
          <a:p>
            <a:pPr algn="just"/>
            <a:r>
              <a:rPr lang="en-IN" dirty="0"/>
              <a:t>Trial accounts are limited to five applications per subaccount</a:t>
            </a:r>
          </a:p>
          <a:p>
            <a:pPr algn="just"/>
            <a:endParaRPr lang="en-IN" dirty="0"/>
          </a:p>
          <a:p>
            <a:pPr algn="just"/>
            <a:r>
              <a:rPr lang="en-IN" dirty="0"/>
              <a:t>Deployment to cloud foundry from BAS is possible only with ‘standard-edition’ not Trial edition, deployment possible with </a:t>
            </a:r>
            <a:r>
              <a:rPr lang="en-IN" dirty="0" err="1"/>
              <a:t>afctl</a:t>
            </a:r>
            <a:r>
              <a:rPr lang="en-IN" dirty="0"/>
              <a:t> cli in BTP Trial </a:t>
            </a:r>
          </a:p>
        </p:txBody>
      </p:sp>
      <p:sp>
        <p:nvSpPr>
          <p:cNvPr id="3" name="Titel 2">
            <a:extLst>
              <a:ext uri="{FF2B5EF4-FFF2-40B4-BE49-F238E27FC236}">
                <a16:creationId xmlns:a16="http://schemas.microsoft.com/office/drawing/2014/main" id="{5594ECA4-0482-59D9-2D83-69797F410443}"/>
              </a:ext>
            </a:extLst>
          </p:cNvPr>
          <p:cNvSpPr>
            <a:spLocks noGrp="1"/>
          </p:cNvSpPr>
          <p:nvPr>
            <p:ph type="title"/>
          </p:nvPr>
        </p:nvSpPr>
        <p:spPr/>
        <p:txBody>
          <a:bodyPr>
            <a:noAutofit/>
          </a:bodyPr>
          <a:lstStyle/>
          <a:p>
            <a:r>
              <a:rPr lang="de-DE" sz="4000" dirty="0">
                <a:latin typeface="72 Brand Medium" panose="020B0504030603020204" pitchFamily="34" charset="0"/>
              </a:rPr>
              <a:t>Limitation</a:t>
            </a:r>
          </a:p>
        </p:txBody>
      </p:sp>
    </p:spTree>
    <p:extLst>
      <p:ext uri="{BB962C8B-B14F-4D97-AF65-F5344CB8AC3E}">
        <p14:creationId xmlns:p14="http://schemas.microsoft.com/office/powerpoint/2010/main" val="2912955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2727D-F328-DC85-007F-028CE773BF36}"/>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25295716-B563-1953-8A50-0E2038B78057}"/>
              </a:ext>
            </a:extLst>
          </p:cNvPr>
          <p:cNvSpPr>
            <a:spLocks noGrp="1"/>
          </p:cNvSpPr>
          <p:nvPr>
            <p:ph type="body" sz="quarter" idx="10"/>
          </p:nvPr>
        </p:nvSpPr>
        <p:spPr/>
        <p:txBody>
          <a:bodyPr>
            <a:normAutofit fontScale="92500" lnSpcReduction="20000"/>
          </a:bodyPr>
          <a:lstStyle/>
          <a:p>
            <a:r>
              <a:rPr lang="de-DE" dirty="0"/>
              <a:t>Blog </a:t>
            </a:r>
            <a:r>
              <a:rPr lang="de-DE" dirty="0" err="1"/>
              <a:t>post</a:t>
            </a:r>
            <a:r>
              <a:rPr lang="de-DE" dirty="0"/>
              <a:t>: </a:t>
            </a:r>
            <a:r>
              <a:rPr lang="de-DE" dirty="0">
                <a:hlinkClick r:id="rId2"/>
              </a:rPr>
              <a:t>https://community.sap.com/t5/technology-blog-posts-by-sap/introducing-application-frontend-service/ba-p/14091408</a:t>
            </a:r>
            <a:endParaRPr lang="de-DE" dirty="0"/>
          </a:p>
          <a:p>
            <a:r>
              <a:rPr lang="de-DE" dirty="0" err="1"/>
              <a:t>Introduction</a:t>
            </a:r>
            <a:r>
              <a:rPr lang="de-DE" dirty="0"/>
              <a:t> Tutorial: </a:t>
            </a:r>
            <a:r>
              <a:rPr lang="de-DE" dirty="0">
                <a:hlinkClick r:id="rId3"/>
              </a:rPr>
              <a:t>https://community.sap.com/t5/technology-blog-posts-by-sap/simple-ui-applications-with-application-frontend-service/ba-p/14096009</a:t>
            </a:r>
            <a:endParaRPr lang="de-DE" dirty="0"/>
          </a:p>
          <a:p>
            <a:r>
              <a:rPr lang="de-DE" dirty="0"/>
              <a:t>Help </a:t>
            </a:r>
            <a:r>
              <a:rPr lang="de-DE" dirty="0" err="1"/>
              <a:t>portal</a:t>
            </a:r>
            <a:r>
              <a:rPr lang="de-DE" dirty="0"/>
              <a:t> : </a:t>
            </a:r>
            <a:r>
              <a:rPr lang="de-DE" dirty="0">
                <a:hlinkClick r:id="rId4"/>
              </a:rPr>
              <a:t>https://help.sap.com/docs/application-frontend-service/application-frontend-service/what-is-application-frontend-service</a:t>
            </a:r>
            <a:endParaRPr lang="de-DE" dirty="0"/>
          </a:p>
          <a:p>
            <a:r>
              <a:rPr lang="de-DE" dirty="0" err="1"/>
              <a:t>Devtoberfest</a:t>
            </a:r>
            <a:r>
              <a:rPr lang="de-DE" dirty="0"/>
              <a:t> Session on YouTube: </a:t>
            </a:r>
            <a:r>
              <a:rPr lang="de-DE" dirty="0">
                <a:hlinkClick r:id="rId5"/>
              </a:rPr>
              <a:t>https://www.youtube.com/watch?v=cqRC6_50tlE</a:t>
            </a:r>
            <a:endParaRPr lang="de-DE" dirty="0"/>
          </a:p>
          <a:p>
            <a:r>
              <a:rPr lang="de-DE" dirty="0"/>
              <a:t>Tutorials on Tutorial Navigator System:</a:t>
            </a:r>
          </a:p>
          <a:p>
            <a:pPr lvl="1"/>
            <a:r>
              <a:rPr lang="de-DE" dirty="0">
                <a:hlinkClick r:id="rId6"/>
              </a:rPr>
              <a:t>https://developers.sap.com/tutorials/application-frontend-trial-setup.html</a:t>
            </a:r>
            <a:endParaRPr lang="de-DE" dirty="0"/>
          </a:p>
          <a:p>
            <a:pPr lvl="1"/>
            <a:r>
              <a:rPr lang="de-DE" dirty="0">
                <a:hlinkClick r:id="rId7"/>
              </a:rPr>
              <a:t>https://developers.sap.com/tutorials/application-frontend-cli.html</a:t>
            </a:r>
            <a:endParaRPr lang="de-DE" dirty="0"/>
          </a:p>
          <a:p>
            <a:pPr lvl="1"/>
            <a:r>
              <a:rPr lang="de-DE" dirty="0">
                <a:hlinkClick r:id="rId8"/>
              </a:rPr>
              <a:t>https://developers.sap.com/tutorials/application-frontend-mta.html</a:t>
            </a:r>
            <a:endParaRPr lang="de-DE" dirty="0"/>
          </a:p>
          <a:p>
            <a:pPr lvl="1"/>
            <a:r>
              <a:rPr lang="de-DE" dirty="0">
                <a:hlinkClick r:id="rId9"/>
              </a:rPr>
              <a:t>https://developers.sap.com/group.build-deploy-ui5-cli-frontend-service.html</a:t>
            </a:r>
            <a:endParaRPr lang="de-DE" dirty="0"/>
          </a:p>
          <a:p>
            <a:pPr lvl="1"/>
            <a:endParaRPr lang="de-DE" dirty="0"/>
          </a:p>
          <a:p>
            <a:pPr lvl="1"/>
            <a:endParaRPr lang="de-DE" dirty="0"/>
          </a:p>
          <a:p>
            <a:pPr lvl="1"/>
            <a:endParaRPr lang="de-DE" dirty="0"/>
          </a:p>
          <a:p>
            <a:pPr lvl="1"/>
            <a:endParaRPr lang="de-DE" dirty="0"/>
          </a:p>
        </p:txBody>
      </p:sp>
      <p:sp>
        <p:nvSpPr>
          <p:cNvPr id="3" name="Titel 2">
            <a:extLst>
              <a:ext uri="{FF2B5EF4-FFF2-40B4-BE49-F238E27FC236}">
                <a16:creationId xmlns:a16="http://schemas.microsoft.com/office/drawing/2014/main" id="{C7F4C80E-DCFF-89EC-9208-8B0FCEB96B54}"/>
              </a:ext>
            </a:extLst>
          </p:cNvPr>
          <p:cNvSpPr>
            <a:spLocks noGrp="1"/>
          </p:cNvSpPr>
          <p:nvPr>
            <p:ph type="title"/>
          </p:nvPr>
        </p:nvSpPr>
        <p:spPr/>
        <p:txBody>
          <a:bodyPr>
            <a:noAutofit/>
          </a:bodyPr>
          <a:lstStyle/>
          <a:p>
            <a:r>
              <a:rPr lang="de-DE" sz="4000" dirty="0">
                <a:latin typeface="72 Brand Medium" panose="020B0504030603020204" pitchFamily="34" charset="0"/>
              </a:rPr>
              <a:t>References</a:t>
            </a:r>
          </a:p>
        </p:txBody>
      </p:sp>
    </p:spTree>
    <p:extLst>
      <p:ext uri="{BB962C8B-B14F-4D97-AF65-F5344CB8AC3E}">
        <p14:creationId xmlns:p14="http://schemas.microsoft.com/office/powerpoint/2010/main" val="1188386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D1CBD1B6-37E1-C8FC-4EAB-EA32B2A09703}"/>
              </a:ext>
            </a:extLst>
          </p:cNvPr>
          <p:cNvSpPr>
            <a:spLocks noGrp="1"/>
          </p:cNvSpPr>
          <p:nvPr>
            <p:ph type="body" sz="quarter" idx="10"/>
          </p:nvPr>
        </p:nvSpPr>
        <p:spPr>
          <a:xfrm>
            <a:off x="498345" y="3197066"/>
            <a:ext cx="3483267" cy="1265079"/>
          </a:xfrm>
        </p:spPr>
        <p:txBody>
          <a:bodyPr/>
          <a:lstStyle/>
          <a:p>
            <a:r>
              <a:rPr lang="de-DE" dirty="0">
                <a:latin typeface="72 Brand" panose="020B0504030603020204" pitchFamily="34" charset="0"/>
              </a:rPr>
              <a:t>Community: </a:t>
            </a:r>
            <a:r>
              <a:rPr lang="en-IN" b="1" dirty="0" err="1">
                <a:latin typeface="72 Brand" panose="020B0504030603020204" pitchFamily="34" charset="0"/>
              </a:rPr>
              <a:t>shrinivasan_neelamegam</a:t>
            </a:r>
            <a:endParaRPr lang="de-DE" b="1" dirty="0">
              <a:latin typeface="72 Brand" panose="020B0504030603020204" pitchFamily="34" charset="0"/>
            </a:endParaRPr>
          </a:p>
          <a:p>
            <a:r>
              <a:rPr lang="de-DE" dirty="0">
                <a:latin typeface="72 Brand" panose="020B0504030603020204" pitchFamily="34" charset="0"/>
              </a:rPr>
              <a:t>LinkedIn: </a:t>
            </a:r>
          </a:p>
          <a:p>
            <a:r>
              <a:rPr lang="de-DE" b="1" dirty="0" err="1">
                <a:latin typeface="72 Brand" panose="020B0504030603020204" pitchFamily="34" charset="0"/>
              </a:rPr>
              <a:t>shrinivasan-neelamegam</a:t>
            </a:r>
            <a:endParaRPr lang="de-DE" b="1" dirty="0">
              <a:latin typeface="72 Brand" panose="020B0504030603020204" pitchFamily="34" charset="0"/>
            </a:endParaRPr>
          </a:p>
        </p:txBody>
      </p:sp>
      <p:sp>
        <p:nvSpPr>
          <p:cNvPr id="4" name="Textplatzhalter 3">
            <a:extLst>
              <a:ext uri="{FF2B5EF4-FFF2-40B4-BE49-F238E27FC236}">
                <a16:creationId xmlns:a16="http://schemas.microsoft.com/office/drawing/2014/main" id="{8BFC4A41-7339-6E38-FCE6-F769578CC538}"/>
              </a:ext>
            </a:extLst>
          </p:cNvPr>
          <p:cNvSpPr>
            <a:spLocks noGrp="1"/>
          </p:cNvSpPr>
          <p:nvPr>
            <p:ph type="body" sz="quarter" idx="11"/>
          </p:nvPr>
        </p:nvSpPr>
        <p:spPr>
          <a:xfrm>
            <a:off x="498346" y="2355273"/>
            <a:ext cx="3728292" cy="484909"/>
          </a:xfrm>
        </p:spPr>
        <p:txBody>
          <a:bodyPr>
            <a:normAutofit/>
          </a:bodyPr>
          <a:lstStyle/>
          <a:p>
            <a:pPr marL="0" indent="0">
              <a:buNone/>
            </a:pPr>
            <a:r>
              <a:rPr lang="de-DE" sz="2400" dirty="0">
                <a:solidFill>
                  <a:srgbClr val="FF0000"/>
                </a:solidFill>
                <a:latin typeface="72 Brand" panose="020B0504030603020204" pitchFamily="34" charset="0"/>
              </a:rPr>
              <a:t>Shrinivasan Neelamegam</a:t>
            </a:r>
          </a:p>
        </p:txBody>
      </p:sp>
      <p:pic>
        <p:nvPicPr>
          <p:cNvPr id="5" name="Picture 4">
            <a:extLst>
              <a:ext uri="{FF2B5EF4-FFF2-40B4-BE49-F238E27FC236}">
                <a16:creationId xmlns:a16="http://schemas.microsoft.com/office/drawing/2014/main" id="{E5D77264-5EF2-1641-CA3E-7687B60D3C36}"/>
              </a:ext>
            </a:extLst>
          </p:cNvPr>
          <p:cNvPicPr>
            <a:picLocks noChangeAspect="1"/>
          </p:cNvPicPr>
          <p:nvPr/>
        </p:nvPicPr>
        <p:blipFill>
          <a:blip r:embed="rId2"/>
          <a:stretch>
            <a:fillRect/>
          </a:stretch>
        </p:blipFill>
        <p:spPr>
          <a:xfrm>
            <a:off x="8210388" y="1281566"/>
            <a:ext cx="3728293" cy="3728293"/>
          </a:xfrm>
          <a:prstGeom prst="rect">
            <a:avLst/>
          </a:prstGeom>
        </p:spPr>
      </p:pic>
    </p:spTree>
    <p:extLst>
      <p:ext uri="{BB962C8B-B14F-4D97-AF65-F5344CB8AC3E}">
        <p14:creationId xmlns:p14="http://schemas.microsoft.com/office/powerpoint/2010/main" val="31163024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TemplafySlideFormConfiguration><![CDATA[{"formFields":[],"formDataEntries":[]}]]></TemplafySlideFormConfiguration>
</file>

<file path=customXml/item2.xml><?xml version="1.0" encoding="utf-8"?>
<TemplafySlideTemplateConfiguration><![CDATA[{"slideVersion":17,"isValidatorEnabled":false,"isLocked":false,"elementsMetadata":[],"slideId":"638331234102931200","enableDocumentContentUpdater":false,"version":"2.0"}]]></TemplafySlideTemplateConfiguration>
</file>

<file path=customXml/itemProps1.xml><?xml version="1.0" encoding="utf-8"?>
<ds:datastoreItem xmlns:ds="http://schemas.openxmlformats.org/officeDocument/2006/customXml" ds:itemID="{37B21E57-60DC-E548-93C8-09859757A515}">
  <ds:schemaRefs/>
</ds:datastoreItem>
</file>

<file path=customXml/itemProps2.xml><?xml version="1.0" encoding="utf-8"?>
<ds:datastoreItem xmlns:ds="http://schemas.openxmlformats.org/officeDocument/2006/customXml" ds:itemID="{1B6811DB-EB29-F34E-AF33-9D95A7C74A5A}">
  <ds:schemaRefs/>
</ds:datastoreItem>
</file>

<file path=docMetadata/LabelInfo.xml><?xml version="1.0" encoding="utf-8"?>
<clbl:labelList xmlns:clbl="http://schemas.microsoft.com/office/2020/mipLabelMetadata">
  <clbl:label id="{0cf7ac0a-4681-4823-ab0b-04ef02c5f873}" enabled="1" method="Standard" siteId="{42f7676c-f455-423c-82f6-dc2d99791af7}" contentBits="0" removed="0"/>
</clbl:labelList>
</file>

<file path=docProps/app.xml><?xml version="1.0" encoding="utf-8"?>
<Properties xmlns="http://schemas.openxmlformats.org/officeDocument/2006/extended-properties" xmlns:vt="http://schemas.openxmlformats.org/officeDocument/2006/docPropsVTypes">
  <TotalTime>12058</TotalTime>
  <Words>575</Words>
  <Application>Microsoft Macintosh PowerPoint</Application>
  <PresentationFormat>Widescreen</PresentationFormat>
  <Paragraphs>66</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72 Brand</vt:lpstr>
      <vt:lpstr>72 Brand Medium</vt:lpstr>
      <vt:lpstr>Aptos</vt:lpstr>
      <vt:lpstr>Aptos Display</vt:lpstr>
      <vt:lpstr>Arial</vt:lpstr>
      <vt:lpstr>Office Theme</vt:lpstr>
      <vt:lpstr>CT1017 - Simplify UI App hosting with Application Frontend Service</vt:lpstr>
      <vt:lpstr>Agenda</vt:lpstr>
      <vt:lpstr>App Frontend - Introduction</vt:lpstr>
      <vt:lpstr>Architecture</vt:lpstr>
      <vt:lpstr>Current  vs New</vt:lpstr>
      <vt:lpstr>Pre-requisites</vt:lpstr>
      <vt:lpstr>Minimum files required</vt:lpstr>
      <vt:lpstr>Demo</vt:lpstr>
      <vt:lpstr>Limitation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Neelamegam, Shrinivasan</dc:creator>
  <cp:lastModifiedBy>Neelamegam, Shrinivasan</cp:lastModifiedBy>
  <cp:revision>40</cp:revision>
  <dcterms:created xsi:type="dcterms:W3CDTF">2025-11-12T09:43:11Z</dcterms:created>
  <dcterms:modified xsi:type="dcterms:W3CDTF">2025-11-24T03:17:53Z</dcterms:modified>
</cp:coreProperties>
</file>